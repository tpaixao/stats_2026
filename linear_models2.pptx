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8" r:id="rId3"/>
    <p:sldId id="265" r:id="rId4"/>
    <p:sldId id="257" r:id="rId5"/>
    <p:sldId id="264" r:id="rId6"/>
    <p:sldId id="270" r:id="rId7"/>
    <p:sldId id="271" r:id="rId8"/>
    <p:sldId id="273" r:id="rId9"/>
    <p:sldId id="269" r:id="rId10"/>
    <p:sldId id="272" r:id="rId11"/>
    <p:sldId id="268" r:id="rId12"/>
    <p:sldId id="262" r:id="rId13"/>
    <p:sldId id="274" r:id="rId14"/>
    <p:sldId id="275" r:id="rId15"/>
    <p:sldId id="276" r:id="rId16"/>
    <p:sldId id="258" r:id="rId17"/>
    <p:sldId id="282" r:id="rId18"/>
    <p:sldId id="259" r:id="rId19"/>
    <p:sldId id="277" r:id="rId20"/>
    <p:sldId id="260" r:id="rId21"/>
    <p:sldId id="278" r:id="rId22"/>
    <p:sldId id="261" r:id="rId23"/>
    <p:sldId id="266" r:id="rId24"/>
    <p:sldId id="267" r:id="rId25"/>
    <p:sldId id="279" r:id="rId26"/>
    <p:sldId id="280" r:id="rId27"/>
    <p:sldId id="284" r:id="rId28"/>
    <p:sldId id="286" r:id="rId29"/>
    <p:sldId id="285" r:id="rId30"/>
    <p:sldId id="281" r:id="rId31"/>
    <p:sldId id="28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345F-17B5-41CC-81F0-AE2C1BE8E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001" dirty="0"/>
              <a:t>L</a:t>
            </a:r>
            <a:r>
              <a:rPr lang="en-GB" dirty="0" err="1"/>
              <a:t>i</a:t>
            </a:r>
            <a:r>
              <a:rPr lang="en-001" dirty="0"/>
              <a:t>n</a:t>
            </a:r>
            <a:r>
              <a:rPr lang="en-GB" dirty="0"/>
              <a:t>e</a:t>
            </a:r>
            <a:r>
              <a:rPr lang="en-001" dirty="0"/>
              <a:t>a</a:t>
            </a:r>
            <a:r>
              <a:rPr lang="en-GB" dirty="0"/>
              <a:t>r</a:t>
            </a:r>
            <a:r>
              <a:rPr lang="en-001" dirty="0"/>
              <a:t> </a:t>
            </a:r>
            <a:r>
              <a:rPr lang="en-GB" dirty="0"/>
              <a:t>M</a:t>
            </a:r>
            <a:r>
              <a:rPr lang="en-001" dirty="0"/>
              <a:t>o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l</a:t>
            </a:r>
            <a:r>
              <a:rPr lang="en-001" dirty="0"/>
              <a:t>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279E3-D75F-4D28-B7DD-65D78213D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001" dirty="0"/>
              <a:t>What they are, what they can tell you, how to use them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5387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hoosing appropriate statistics test flow chart">
            <a:extLst>
              <a:ext uri="{FF2B5EF4-FFF2-40B4-BE49-F238E27FC236}">
                <a16:creationId xmlns:a16="http://schemas.microsoft.com/office/drawing/2014/main" id="{2C5F61DA-1140-1508-42D9-3FAF393AF3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563" y="0"/>
            <a:ext cx="5543029" cy="71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C6DB2E-4745-3DEC-01D2-452ECC079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9939582">
            <a:off x="3327921" y="2404965"/>
            <a:ext cx="6344816" cy="1320283"/>
          </a:xfrm>
        </p:spPr>
        <p:txBody>
          <a:bodyPr>
            <a:normAutofit fontScale="90000"/>
          </a:bodyPr>
          <a:lstStyle/>
          <a:p>
            <a:r>
              <a:rPr lang="en-001" sz="6000" b="1" dirty="0">
                <a:solidFill>
                  <a:srgbClr val="FF0000"/>
                </a:solidFill>
              </a:rPr>
              <a:t>There is a better way</a:t>
            </a:r>
            <a:endParaRPr lang="en-GB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42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20348-D284-44CD-98B0-ACB74588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457200"/>
            <a:ext cx="6016752" cy="859536"/>
          </a:xfrm>
        </p:spPr>
        <p:txBody>
          <a:bodyPr>
            <a:normAutofit/>
          </a:bodyPr>
          <a:lstStyle/>
          <a:p>
            <a:r>
              <a:rPr lang="en-GB" dirty="0"/>
              <a:t>L</a:t>
            </a:r>
            <a:r>
              <a:rPr lang="en-001" dirty="0" err="1"/>
              <a:t>i</a:t>
            </a:r>
            <a:r>
              <a:rPr lang="en-GB" dirty="0"/>
              <a:t>n</a:t>
            </a:r>
            <a:r>
              <a:rPr lang="en-001" dirty="0"/>
              <a:t>e</a:t>
            </a:r>
            <a:r>
              <a:rPr lang="en-GB" dirty="0"/>
              <a:t>a</a:t>
            </a:r>
            <a:r>
              <a:rPr lang="en-001" dirty="0"/>
              <a:t>r </a:t>
            </a:r>
            <a:r>
              <a:rPr lang="en-GB" dirty="0"/>
              <a:t>M</a:t>
            </a:r>
            <a:r>
              <a:rPr lang="en-001" dirty="0"/>
              <a:t>o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l</a:t>
            </a:r>
            <a:r>
              <a:rPr lang="en-001" dirty="0"/>
              <a:t>s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4A53D-6C8F-4BA8-8271-0B4C4ADC04C4}"/>
              </a:ext>
            </a:extLst>
          </p:cNvPr>
          <p:cNvSpPr txBox="1"/>
          <p:nvPr/>
        </p:nvSpPr>
        <p:spPr>
          <a:xfrm>
            <a:off x="822960" y="1746504"/>
            <a:ext cx="54792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001" dirty="0"/>
              <a:t>Linear models are </a:t>
            </a:r>
            <a:r>
              <a:rPr lang="en-GB" dirty="0"/>
              <a:t>a</a:t>
            </a:r>
            <a:r>
              <a:rPr lang="en-001" dirty="0"/>
              <a:t> framework </a:t>
            </a:r>
            <a:r>
              <a:rPr lang="en-GB" dirty="0"/>
              <a:t>f</a:t>
            </a:r>
            <a:r>
              <a:rPr lang="en-001" dirty="0"/>
              <a:t>o</a:t>
            </a:r>
            <a:r>
              <a:rPr lang="en-GB" dirty="0"/>
              <a:t>r</a:t>
            </a:r>
            <a:r>
              <a:rPr lang="en-001" dirty="0"/>
              <a:t> developing statistical models that are tailored to your problem</a:t>
            </a:r>
          </a:p>
          <a:p>
            <a:endParaRPr lang="en-00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001" dirty="0"/>
              <a:t>Many statistical tests can be cast as Linear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00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</a:t>
            </a:r>
            <a:r>
              <a:rPr lang="en-001" dirty="0"/>
              <a:t>n</a:t>
            </a:r>
            <a:r>
              <a:rPr lang="en-GB" dirty="0"/>
              <a:t>l</a:t>
            </a:r>
            <a:r>
              <a:rPr lang="en-001" dirty="0"/>
              <a:t>y 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t</a:t>
            </a:r>
            <a:r>
              <a:rPr lang="en-001" dirty="0"/>
              <a:t>e</a:t>
            </a:r>
            <a:r>
              <a:rPr lang="en-GB" dirty="0"/>
              <a:t>r</a:t>
            </a:r>
            <a:r>
              <a:rPr lang="en-001" dirty="0"/>
              <a:t>m</a:t>
            </a:r>
            <a:r>
              <a:rPr lang="en-GB" dirty="0" err="1"/>
              <a:t>i</a:t>
            </a:r>
            <a:r>
              <a:rPr lang="en-001" dirty="0"/>
              <a:t>n</a:t>
            </a:r>
            <a:r>
              <a:rPr lang="en-GB" dirty="0"/>
              <a:t>e</a:t>
            </a:r>
            <a:r>
              <a:rPr lang="en-001" dirty="0"/>
              <a:t>s </a:t>
            </a:r>
            <a:r>
              <a:rPr lang="en-GB" dirty="0"/>
              <a:t>a</a:t>
            </a:r>
            <a:r>
              <a:rPr lang="en-001" dirty="0"/>
              <a:t>s</a:t>
            </a:r>
            <a:r>
              <a:rPr lang="en-GB" dirty="0"/>
              <a:t>s</a:t>
            </a:r>
            <a:r>
              <a:rPr lang="en-001" dirty="0"/>
              <a:t>o</a:t>
            </a:r>
            <a:r>
              <a:rPr lang="en-GB" dirty="0"/>
              <a:t>c</a:t>
            </a:r>
            <a:r>
              <a:rPr lang="en-001" dirty="0" err="1"/>
              <a:t>i</a:t>
            </a:r>
            <a:r>
              <a:rPr lang="en-GB" dirty="0"/>
              <a:t>a</a:t>
            </a:r>
            <a:r>
              <a:rPr lang="en-001" dirty="0"/>
              <a:t>t</a:t>
            </a:r>
            <a:r>
              <a:rPr lang="en-GB" dirty="0" err="1"/>
              <a:t>i</a:t>
            </a:r>
            <a:r>
              <a:rPr lang="en-001" dirty="0"/>
              <a:t>o</a:t>
            </a:r>
            <a:r>
              <a:rPr lang="en-GB" dirty="0"/>
              <a:t>n</a:t>
            </a:r>
            <a:r>
              <a:rPr lang="en-001" dirty="0"/>
              <a:t>s - NOT CAUSAL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00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00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81ACBA8-2619-4712-9BDA-66EBC3F7D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732" y="1577082"/>
            <a:ext cx="5479231" cy="322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23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DC3E36-28E2-4BF4-9C29-F65C1B7C9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001" dirty="0"/>
              <a:t>n</a:t>
            </a:r>
            <a:r>
              <a:rPr lang="en-GB" dirty="0"/>
              <a:t>a</a:t>
            </a:r>
            <a:r>
              <a:rPr lang="en-001" dirty="0"/>
              <a:t>t</a:t>
            </a:r>
            <a:r>
              <a:rPr lang="en-GB" dirty="0"/>
              <a:t>o</a:t>
            </a:r>
            <a:r>
              <a:rPr lang="en-001" dirty="0"/>
              <a:t>m</a:t>
            </a:r>
            <a:r>
              <a:rPr lang="en-GB" dirty="0"/>
              <a:t>y</a:t>
            </a:r>
            <a:r>
              <a:rPr lang="en-001" dirty="0"/>
              <a:t> </a:t>
            </a:r>
            <a:r>
              <a:rPr lang="en-GB" dirty="0"/>
              <a:t>o</a:t>
            </a:r>
            <a:r>
              <a:rPr lang="en-001" dirty="0"/>
              <a:t>f </a:t>
            </a:r>
            <a:r>
              <a:rPr lang="en-GB" dirty="0"/>
              <a:t>a</a:t>
            </a:r>
            <a:r>
              <a:rPr lang="en-001" dirty="0"/>
              <a:t> L</a:t>
            </a:r>
            <a:r>
              <a:rPr lang="en-GB" dirty="0" err="1"/>
              <a:t>i</a:t>
            </a:r>
            <a:r>
              <a:rPr lang="en-001" dirty="0"/>
              <a:t>n</a:t>
            </a:r>
            <a:r>
              <a:rPr lang="en-GB" dirty="0"/>
              <a:t>e</a:t>
            </a:r>
            <a:r>
              <a:rPr lang="en-001" dirty="0"/>
              <a:t>a</a:t>
            </a:r>
            <a:r>
              <a:rPr lang="en-GB" dirty="0"/>
              <a:t>r</a:t>
            </a:r>
            <a:r>
              <a:rPr lang="en-001" dirty="0"/>
              <a:t> </a:t>
            </a:r>
            <a:r>
              <a:rPr lang="en-GB" dirty="0"/>
              <a:t>M</a:t>
            </a:r>
            <a:r>
              <a:rPr lang="en-001" dirty="0"/>
              <a:t>o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6A831-B852-4A70-980B-EC00AE8C7872}"/>
              </a:ext>
            </a:extLst>
          </p:cNvPr>
          <p:cNvSpPr txBox="1"/>
          <p:nvPr/>
        </p:nvSpPr>
        <p:spPr>
          <a:xfrm>
            <a:off x="2014879" y="2884997"/>
            <a:ext cx="2091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</a:t>
            </a:r>
            <a:r>
              <a:rPr lang="en-001" dirty="0"/>
              <a:t>p</a:t>
            </a:r>
            <a:r>
              <a:rPr lang="en-GB" dirty="0"/>
              <a:t>e</a:t>
            </a:r>
            <a:r>
              <a:rPr lang="en-001" dirty="0"/>
              <a:t>n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n</a:t>
            </a:r>
            <a:r>
              <a:rPr lang="en-001" dirty="0"/>
              <a:t>t </a:t>
            </a:r>
            <a:r>
              <a:rPr lang="en-GB" dirty="0"/>
              <a:t>v</a:t>
            </a:r>
            <a:r>
              <a:rPr lang="en-001" dirty="0"/>
              <a:t>a</a:t>
            </a:r>
            <a:r>
              <a:rPr lang="en-GB" dirty="0"/>
              <a:t>r</a:t>
            </a:r>
            <a:r>
              <a:rPr lang="en-001" dirty="0" err="1"/>
              <a:t>i</a:t>
            </a:r>
            <a:r>
              <a:rPr lang="en-GB" dirty="0"/>
              <a:t>a</a:t>
            </a:r>
            <a:r>
              <a:rPr lang="en-001" dirty="0"/>
              <a:t>b</a:t>
            </a:r>
            <a:r>
              <a:rPr lang="en-GB" dirty="0"/>
              <a:t>l</a:t>
            </a:r>
            <a:r>
              <a:rPr lang="en-001" dirty="0"/>
              <a:t>e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586E04-ACC8-42A2-8DE2-0E62B190EBDE}"/>
              </a:ext>
            </a:extLst>
          </p:cNvPr>
          <p:cNvSpPr txBox="1"/>
          <p:nvPr/>
        </p:nvSpPr>
        <p:spPr>
          <a:xfrm>
            <a:off x="5467928" y="2822951"/>
            <a:ext cx="2357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Ind</a:t>
            </a:r>
            <a:r>
              <a:rPr lang="en-GB" dirty="0"/>
              <a:t>e</a:t>
            </a:r>
            <a:r>
              <a:rPr lang="en-001" dirty="0"/>
              <a:t>p</a:t>
            </a:r>
            <a:r>
              <a:rPr lang="en-GB" dirty="0"/>
              <a:t>e</a:t>
            </a:r>
            <a:r>
              <a:rPr lang="en-001" dirty="0"/>
              <a:t>n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n</a:t>
            </a:r>
            <a:r>
              <a:rPr lang="en-001" dirty="0"/>
              <a:t>t </a:t>
            </a:r>
            <a:r>
              <a:rPr lang="en-GB" dirty="0"/>
              <a:t>v</a:t>
            </a:r>
            <a:r>
              <a:rPr lang="en-001" dirty="0"/>
              <a:t>a</a:t>
            </a:r>
            <a:r>
              <a:rPr lang="en-GB" dirty="0"/>
              <a:t>r</a:t>
            </a:r>
            <a:r>
              <a:rPr lang="en-001" dirty="0" err="1"/>
              <a:t>i</a:t>
            </a:r>
            <a:r>
              <a:rPr lang="en-GB" dirty="0"/>
              <a:t>a</a:t>
            </a:r>
            <a:r>
              <a:rPr lang="en-001" dirty="0"/>
              <a:t>b</a:t>
            </a:r>
            <a:r>
              <a:rPr lang="en-GB" dirty="0"/>
              <a:t>l</a:t>
            </a:r>
            <a:r>
              <a:rPr lang="en-001" dirty="0"/>
              <a:t>e</a:t>
            </a:r>
            <a:r>
              <a:rPr lang="en-GB" dirty="0"/>
              <a:t>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E3BCB-73CE-45A9-B26E-C078871D816D}"/>
              </a:ext>
            </a:extLst>
          </p:cNvPr>
          <p:cNvSpPr txBox="1"/>
          <p:nvPr/>
        </p:nvSpPr>
        <p:spPr>
          <a:xfrm>
            <a:off x="8582984" y="2822951"/>
            <a:ext cx="1371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  <a:r>
              <a:rPr lang="en-001" dirty="0"/>
              <a:t>r</a:t>
            </a:r>
            <a:r>
              <a:rPr lang="en-GB" dirty="0"/>
              <a:t>r</a:t>
            </a:r>
            <a:r>
              <a:rPr lang="en-001" dirty="0"/>
              <a:t>o</a:t>
            </a:r>
            <a:r>
              <a:rPr lang="en-GB" dirty="0"/>
              <a:t>r</a:t>
            </a:r>
            <a:r>
              <a:rPr lang="en-001" dirty="0"/>
              <a:t> (</a:t>
            </a:r>
            <a:r>
              <a:rPr lang="en-GB" dirty="0"/>
              <a:t>n</a:t>
            </a:r>
            <a:r>
              <a:rPr lang="en-001" dirty="0"/>
              <a:t>o</a:t>
            </a:r>
            <a:r>
              <a:rPr lang="en-GB" dirty="0" err="1"/>
              <a:t>i</a:t>
            </a:r>
            <a:r>
              <a:rPr lang="en-001" dirty="0"/>
              <a:t>s</a:t>
            </a:r>
            <a:r>
              <a:rPr lang="en-GB" dirty="0"/>
              <a:t>e</a:t>
            </a:r>
            <a:r>
              <a:rPr lang="en-001" dirty="0"/>
              <a:t>)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BF7092-87D4-4E83-865A-2948D2E93AF5}"/>
              </a:ext>
            </a:extLst>
          </p:cNvPr>
          <p:cNvSpPr txBox="1"/>
          <p:nvPr/>
        </p:nvSpPr>
        <p:spPr>
          <a:xfrm>
            <a:off x="3832157" y="4872459"/>
            <a:ext cx="1047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</a:t>
            </a:r>
            <a:r>
              <a:rPr lang="en-001" dirty="0"/>
              <a:t>n</a:t>
            </a:r>
            <a:r>
              <a:rPr lang="en-GB" dirty="0"/>
              <a:t>t</a:t>
            </a:r>
            <a:r>
              <a:rPr lang="en-001" dirty="0"/>
              <a:t>e</a:t>
            </a:r>
            <a:r>
              <a:rPr lang="en-GB" dirty="0"/>
              <a:t>r</a:t>
            </a:r>
            <a:r>
              <a:rPr lang="en-001" dirty="0"/>
              <a:t>c</a:t>
            </a:r>
            <a:r>
              <a:rPr lang="en-GB" dirty="0"/>
              <a:t>e</a:t>
            </a:r>
            <a:r>
              <a:rPr lang="en-001" dirty="0"/>
              <a:t>p</a:t>
            </a:r>
            <a:r>
              <a:rPr lang="en-GB" dirty="0"/>
              <a:t>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987F73-F967-4208-BE24-D815A4CB4720}"/>
              </a:ext>
            </a:extLst>
          </p:cNvPr>
          <p:cNvSpPr txBox="1"/>
          <p:nvPr/>
        </p:nvSpPr>
        <p:spPr>
          <a:xfrm>
            <a:off x="6102030" y="4872459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001" dirty="0"/>
              <a:t>l</a:t>
            </a:r>
            <a:r>
              <a:rPr lang="en-GB" dirty="0"/>
              <a:t>o</a:t>
            </a:r>
            <a:r>
              <a:rPr lang="en-001" dirty="0"/>
              <a:t>p</a:t>
            </a:r>
            <a:r>
              <a:rPr lang="en-GB" dirty="0"/>
              <a:t>e</a:t>
            </a:r>
            <a:r>
              <a:rPr lang="en-001" dirty="0"/>
              <a:t>s</a:t>
            </a:r>
            <a:endParaRPr lang="en-GB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2FD6A4-58C8-47CE-B6EB-34C45874A262}"/>
              </a:ext>
            </a:extLst>
          </p:cNvPr>
          <p:cNvCxnSpPr>
            <a:stCxn id="10" idx="2"/>
          </p:cNvCxnSpPr>
          <p:nvPr/>
        </p:nvCxnSpPr>
        <p:spPr>
          <a:xfrm>
            <a:off x="3060678" y="3254329"/>
            <a:ext cx="691561" cy="57080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E61F82-ECDE-47C8-91D3-F4659BF729EC}"/>
              </a:ext>
            </a:extLst>
          </p:cNvPr>
          <p:cNvCxnSpPr/>
          <p:nvPr/>
        </p:nvCxnSpPr>
        <p:spPr>
          <a:xfrm>
            <a:off x="6738475" y="3184314"/>
            <a:ext cx="691561" cy="57080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38E442-3A82-4284-B27D-AC2356A42EC2}"/>
              </a:ext>
            </a:extLst>
          </p:cNvPr>
          <p:cNvCxnSpPr>
            <a:cxnSpLocks/>
          </p:cNvCxnSpPr>
          <p:nvPr/>
        </p:nvCxnSpPr>
        <p:spPr>
          <a:xfrm flipH="1">
            <a:off x="6021180" y="3195570"/>
            <a:ext cx="691561" cy="57080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E7BF3A-3BE0-48E7-850B-5C0499A70581}"/>
              </a:ext>
            </a:extLst>
          </p:cNvPr>
          <p:cNvCxnSpPr>
            <a:cxnSpLocks/>
          </p:cNvCxnSpPr>
          <p:nvPr/>
        </p:nvCxnSpPr>
        <p:spPr>
          <a:xfrm>
            <a:off x="9187076" y="3155651"/>
            <a:ext cx="0" cy="669484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228EDA-FCDD-4399-9A5F-97BF4705FF1D}"/>
              </a:ext>
            </a:extLst>
          </p:cNvPr>
          <p:cNvCxnSpPr>
            <a:cxnSpLocks/>
          </p:cNvCxnSpPr>
          <p:nvPr/>
        </p:nvCxnSpPr>
        <p:spPr>
          <a:xfrm flipV="1">
            <a:off x="4355986" y="4358110"/>
            <a:ext cx="436355" cy="43338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A57F3F-2B22-46D0-8C2F-F5A8F099181A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6522178" y="4298341"/>
            <a:ext cx="419621" cy="57411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212A66C-7856-45C6-ACB0-428D6E39E69A}"/>
              </a:ext>
            </a:extLst>
          </p:cNvPr>
          <p:cNvCxnSpPr>
            <a:cxnSpLocks/>
          </p:cNvCxnSpPr>
          <p:nvPr/>
        </p:nvCxnSpPr>
        <p:spPr>
          <a:xfrm flipH="1" flipV="1">
            <a:off x="5720233" y="4309597"/>
            <a:ext cx="529479" cy="55955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65C9DD8-AA46-4661-832C-417376CDA741}"/>
              </a:ext>
            </a:extLst>
          </p:cNvPr>
          <p:cNvSpPr txBox="1"/>
          <p:nvPr/>
        </p:nvSpPr>
        <p:spPr>
          <a:xfrm>
            <a:off x="10613383" y="2824643"/>
            <a:ext cx="177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</a:t>
            </a:r>
            <a:r>
              <a:rPr lang="en-001" b="1" dirty="0"/>
              <a:t>a</a:t>
            </a:r>
            <a:r>
              <a:rPr lang="en-GB" b="1" dirty="0"/>
              <a:t>t</a:t>
            </a:r>
            <a:r>
              <a:rPr lang="en-001" b="1" dirty="0"/>
              <a:t>a</a:t>
            </a:r>
            <a:endParaRPr lang="en-GB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E36F93-6335-4E04-924F-786D2778B16A}"/>
              </a:ext>
            </a:extLst>
          </p:cNvPr>
          <p:cNvSpPr txBox="1"/>
          <p:nvPr/>
        </p:nvSpPr>
        <p:spPr>
          <a:xfrm>
            <a:off x="10317877" y="4791497"/>
            <a:ext cx="1309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</a:t>
            </a:r>
            <a:r>
              <a:rPr lang="en-001" b="1" dirty="0"/>
              <a:t>a</a:t>
            </a:r>
            <a:r>
              <a:rPr lang="en-GB" b="1" dirty="0"/>
              <a:t>r</a:t>
            </a:r>
            <a:r>
              <a:rPr lang="en-001" b="1" dirty="0"/>
              <a:t>a</a:t>
            </a:r>
            <a:r>
              <a:rPr lang="en-GB" b="1" dirty="0"/>
              <a:t>m</a:t>
            </a:r>
            <a:r>
              <a:rPr lang="en-001" b="1" dirty="0"/>
              <a:t>e</a:t>
            </a:r>
            <a:r>
              <a:rPr lang="en-GB" b="1" dirty="0"/>
              <a:t>t</a:t>
            </a:r>
            <a:r>
              <a:rPr lang="en-001" b="1" dirty="0"/>
              <a:t>e</a:t>
            </a:r>
            <a:r>
              <a:rPr lang="en-GB" b="1" dirty="0"/>
              <a:t>r</a:t>
            </a:r>
            <a:r>
              <a:rPr lang="en-001" b="1" dirty="0"/>
              <a:t>s</a:t>
            </a:r>
            <a:endParaRPr lang="en-GB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C1F4465-224B-4AFE-8DD4-7BF8E0C3A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589" y="3861774"/>
            <a:ext cx="559117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9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3F41-FD91-492F-8796-F589E0BE9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L</a:t>
            </a:r>
            <a:r>
              <a:rPr lang="en-GB" dirty="0" err="1"/>
              <a:t>i</a:t>
            </a:r>
            <a:r>
              <a:rPr lang="en-001" dirty="0"/>
              <a:t>n</a:t>
            </a:r>
            <a:r>
              <a:rPr lang="en-GB" dirty="0"/>
              <a:t>e</a:t>
            </a:r>
            <a:r>
              <a:rPr lang="en-001" dirty="0"/>
              <a:t>a</a:t>
            </a:r>
            <a:r>
              <a:rPr lang="en-GB" dirty="0"/>
              <a:t>r</a:t>
            </a:r>
            <a:r>
              <a:rPr lang="en-001" dirty="0"/>
              <a:t> </a:t>
            </a:r>
            <a:r>
              <a:rPr lang="en-GB" dirty="0"/>
              <a:t>R</a:t>
            </a:r>
            <a:r>
              <a:rPr lang="en-001" dirty="0"/>
              <a:t>e</a:t>
            </a:r>
            <a:r>
              <a:rPr lang="en-GB" dirty="0"/>
              <a:t>g</a:t>
            </a:r>
            <a:r>
              <a:rPr lang="en-001" dirty="0"/>
              <a:t>r</a:t>
            </a:r>
            <a:r>
              <a:rPr lang="en-GB" dirty="0"/>
              <a:t>e</a:t>
            </a:r>
            <a:r>
              <a:rPr lang="en-001" dirty="0"/>
              <a:t>s</a:t>
            </a:r>
            <a:r>
              <a:rPr lang="en-GB" dirty="0"/>
              <a:t>s</a:t>
            </a:r>
            <a:r>
              <a:rPr lang="en-001" dirty="0" err="1"/>
              <a:t>i</a:t>
            </a:r>
            <a:r>
              <a:rPr lang="en-GB" dirty="0"/>
              <a:t>o</a:t>
            </a:r>
            <a:r>
              <a:rPr lang="en-001" dirty="0"/>
              <a:t>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82FF9-0150-4923-A799-B0A5DD58A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590" y="2024216"/>
            <a:ext cx="4082133" cy="9956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D24651-52E2-47E3-870A-D493C548A4D2}"/>
              </a:ext>
            </a:extLst>
          </p:cNvPr>
          <p:cNvSpPr txBox="1"/>
          <p:nvPr/>
        </p:nvSpPr>
        <p:spPr>
          <a:xfrm>
            <a:off x="9651234" y="6488668"/>
            <a:ext cx="23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001" dirty="0"/>
              <a:t>!</a:t>
            </a:r>
            <a:r>
              <a:rPr lang="en-GB" dirty="0"/>
              <a:t>k</a:t>
            </a:r>
            <a:r>
              <a:rPr lang="en-001" dirty="0"/>
              <a:t>u</a:t>
            </a:r>
            <a:r>
              <a:rPr lang="en-GB" dirty="0"/>
              <a:t>n</a:t>
            </a:r>
            <a:r>
              <a:rPr lang="en-001" dirty="0"/>
              <a:t>g </a:t>
            </a:r>
            <a:r>
              <a:rPr lang="en-GB" dirty="0"/>
              <a:t>d</a:t>
            </a:r>
            <a:r>
              <a:rPr lang="en-001" dirty="0"/>
              <a:t>a</a:t>
            </a:r>
            <a:r>
              <a:rPr lang="en-GB" dirty="0"/>
              <a:t>t</a:t>
            </a:r>
            <a:r>
              <a:rPr lang="en-001" dirty="0"/>
              <a:t>a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55777F-6B1E-4114-B8CF-601C34AA6D5A}"/>
              </a:ext>
            </a:extLst>
          </p:cNvPr>
          <p:cNvGrpSpPr/>
          <p:nvPr/>
        </p:nvGrpSpPr>
        <p:grpSpPr>
          <a:xfrm>
            <a:off x="1502590" y="1059418"/>
            <a:ext cx="9186820" cy="5533838"/>
            <a:chOff x="1502590" y="1059418"/>
            <a:chExt cx="9186820" cy="553383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213F109-734C-4C37-A2A3-A4BF76C32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15497" y="1705282"/>
              <a:ext cx="3473913" cy="488797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7F940A-DD6E-4358-8F3A-2D666E473A50}"/>
                </a:ext>
              </a:extLst>
            </p:cNvPr>
            <p:cNvSpPr/>
            <p:nvPr/>
          </p:nvSpPr>
          <p:spPr>
            <a:xfrm>
              <a:off x="7777316" y="1705282"/>
              <a:ext cx="796413" cy="45480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64EFF6-68BE-48AA-885A-596E5B3B3EFA}"/>
                </a:ext>
              </a:extLst>
            </p:cNvPr>
            <p:cNvSpPr txBox="1"/>
            <p:nvPr/>
          </p:nvSpPr>
          <p:spPr>
            <a:xfrm>
              <a:off x="7983794" y="1059418"/>
              <a:ext cx="373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001" b="1" dirty="0">
                  <a:solidFill>
                    <a:srgbClr val="FF0000"/>
                  </a:solidFill>
                </a:rPr>
                <a:t>y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AEE373-6A68-4E12-BDF0-DE4547F9BF75}"/>
                </a:ext>
              </a:extLst>
            </p:cNvPr>
            <p:cNvSpPr txBox="1"/>
            <p:nvPr/>
          </p:nvSpPr>
          <p:spPr>
            <a:xfrm>
              <a:off x="9394722" y="1071206"/>
              <a:ext cx="373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001" b="1" dirty="0">
                  <a:solidFill>
                    <a:srgbClr val="FF0000"/>
                  </a:solidFill>
                </a:rPr>
                <a:t>x</a:t>
              </a:r>
              <a:endParaRPr lang="en-GB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9BBD84B-F611-40E2-94DF-DBC88BAF2DB6}"/>
                </a:ext>
              </a:extLst>
            </p:cNvPr>
            <p:cNvSpPr/>
            <p:nvPr/>
          </p:nvSpPr>
          <p:spPr>
            <a:xfrm>
              <a:off x="9135548" y="1705282"/>
              <a:ext cx="796413" cy="45480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28" name="Picture 4" descr="https://upload.wikimedia.org/wikipedia/commons/6/66/San_Schmuck.JPG">
              <a:extLst>
                <a:ext uri="{FF2B5EF4-FFF2-40B4-BE49-F238E27FC236}">
                  <a16:creationId xmlns:a16="http://schemas.microsoft.com/office/drawing/2014/main" id="{42A4FF68-15D0-4DEA-8FBE-9AB384013D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2590" y="3716593"/>
              <a:ext cx="3534028" cy="26505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3082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3F41-FD91-492F-8796-F589E0BE9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001" dirty="0"/>
              <a:t>L</a:t>
            </a:r>
            <a:r>
              <a:rPr lang="en-GB" dirty="0" err="1"/>
              <a:t>i</a:t>
            </a:r>
            <a:r>
              <a:rPr lang="en-001" dirty="0"/>
              <a:t>n</a:t>
            </a:r>
            <a:r>
              <a:rPr lang="en-GB" dirty="0"/>
              <a:t>e</a:t>
            </a:r>
            <a:r>
              <a:rPr lang="en-001" dirty="0"/>
              <a:t>a</a:t>
            </a:r>
            <a:r>
              <a:rPr lang="en-GB" dirty="0"/>
              <a:t>r</a:t>
            </a:r>
            <a:r>
              <a:rPr lang="en-001" dirty="0"/>
              <a:t> </a:t>
            </a:r>
            <a:r>
              <a:rPr lang="en-GB" dirty="0"/>
              <a:t>R</a:t>
            </a:r>
            <a:r>
              <a:rPr lang="en-001" dirty="0"/>
              <a:t>e</a:t>
            </a:r>
            <a:r>
              <a:rPr lang="en-GB" dirty="0"/>
              <a:t>g</a:t>
            </a:r>
            <a:r>
              <a:rPr lang="en-001" dirty="0"/>
              <a:t>r</a:t>
            </a:r>
            <a:r>
              <a:rPr lang="en-GB" dirty="0"/>
              <a:t>e</a:t>
            </a:r>
            <a:r>
              <a:rPr lang="en-001" dirty="0"/>
              <a:t>s</a:t>
            </a:r>
            <a:r>
              <a:rPr lang="en-GB" dirty="0"/>
              <a:t>s</a:t>
            </a:r>
            <a:r>
              <a:rPr lang="en-001" dirty="0" err="1"/>
              <a:t>i</a:t>
            </a:r>
            <a:r>
              <a:rPr lang="en-GB" dirty="0"/>
              <a:t>o</a:t>
            </a:r>
            <a:r>
              <a:rPr lang="en-001" dirty="0"/>
              <a:t>n</a:t>
            </a:r>
            <a:br>
              <a:rPr lang="en-001" dirty="0"/>
            </a:br>
            <a:br>
              <a:rPr lang="en-001" dirty="0"/>
            </a:br>
            <a:r>
              <a:rPr lang="en-GB" dirty="0"/>
              <a:t>h</a:t>
            </a:r>
            <a:r>
              <a:rPr lang="en-001" dirty="0"/>
              <a:t>e</a:t>
            </a:r>
            <a:r>
              <a:rPr lang="en-GB" dirty="0" err="1"/>
              <a:t>i</a:t>
            </a:r>
            <a:r>
              <a:rPr lang="en-001" dirty="0"/>
              <a:t>g</a:t>
            </a:r>
            <a:r>
              <a:rPr lang="en-GB" dirty="0"/>
              <a:t>h</a:t>
            </a:r>
            <a:r>
              <a:rPr lang="en-001" dirty="0"/>
              <a:t>t </a:t>
            </a:r>
            <a:r>
              <a:rPr lang="en-GB" dirty="0"/>
              <a:t>v</a:t>
            </a:r>
            <a:r>
              <a:rPr lang="en-001" dirty="0"/>
              <a:t>s </a:t>
            </a:r>
            <a:r>
              <a:rPr lang="en-GB" dirty="0"/>
              <a:t>a</a:t>
            </a:r>
            <a:r>
              <a:rPr lang="en-001" dirty="0"/>
              <a:t>g</a:t>
            </a:r>
            <a:r>
              <a:rPr lang="en-GB" dirty="0"/>
              <a:t>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82FF9-0150-4923-A799-B0A5DD58A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351" y="433108"/>
            <a:ext cx="4082133" cy="995642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388C93D-30F2-46F5-BDEB-3956BBB58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79803" y="2564073"/>
            <a:ext cx="5595897" cy="329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2E8B76-E13C-4733-890B-E1E0134C8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721" y="2581829"/>
            <a:ext cx="5210424" cy="312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2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2206-32EA-4F0F-863D-735A054A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C</a:t>
            </a:r>
            <a:r>
              <a:rPr lang="en-GB" dirty="0"/>
              <a:t>a</a:t>
            </a:r>
            <a:r>
              <a:rPr lang="en-001" dirty="0"/>
              <a:t>t</a:t>
            </a:r>
            <a:r>
              <a:rPr lang="en-GB" dirty="0"/>
              <a:t>e</a:t>
            </a:r>
            <a:r>
              <a:rPr lang="en-001" dirty="0"/>
              <a:t>g</a:t>
            </a:r>
            <a:r>
              <a:rPr lang="en-GB" dirty="0"/>
              <a:t>o</a:t>
            </a:r>
            <a:r>
              <a:rPr lang="en-001" dirty="0"/>
              <a:t>r</a:t>
            </a:r>
            <a:r>
              <a:rPr lang="en-GB" dirty="0" err="1"/>
              <a:t>i</a:t>
            </a:r>
            <a:r>
              <a:rPr lang="en-001" dirty="0"/>
              <a:t>c</a:t>
            </a:r>
            <a:r>
              <a:rPr lang="en-GB" dirty="0"/>
              <a:t>a</a:t>
            </a:r>
            <a:r>
              <a:rPr lang="en-001" dirty="0"/>
              <a:t>l </a:t>
            </a:r>
            <a:r>
              <a:rPr lang="en-GB" dirty="0"/>
              <a:t>v</a:t>
            </a:r>
            <a:r>
              <a:rPr lang="en-001" dirty="0"/>
              <a:t>a</a:t>
            </a:r>
            <a:r>
              <a:rPr lang="en-GB" dirty="0"/>
              <a:t>r</a:t>
            </a:r>
            <a:r>
              <a:rPr lang="en-001" dirty="0" err="1"/>
              <a:t>i</a:t>
            </a:r>
            <a:r>
              <a:rPr lang="en-GB" dirty="0"/>
              <a:t>a</a:t>
            </a:r>
            <a:r>
              <a:rPr lang="en-001" dirty="0"/>
              <a:t>b</a:t>
            </a:r>
            <a:r>
              <a:rPr lang="en-GB" dirty="0"/>
              <a:t>l</a:t>
            </a:r>
            <a:r>
              <a:rPr lang="en-001" dirty="0"/>
              <a:t>e</a:t>
            </a:r>
            <a:r>
              <a:rPr lang="en-GB" dirty="0"/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8AD9A-A827-4EE1-A382-755C00B53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708" y="2171700"/>
            <a:ext cx="5422490" cy="3581400"/>
          </a:xfrm>
        </p:spPr>
        <p:txBody>
          <a:bodyPr/>
          <a:lstStyle/>
          <a:p>
            <a:r>
              <a:rPr lang="en-001" dirty="0"/>
              <a:t>H</a:t>
            </a:r>
            <a:r>
              <a:rPr lang="en-GB" dirty="0"/>
              <a:t>o</a:t>
            </a:r>
            <a:r>
              <a:rPr lang="en-001" dirty="0"/>
              <a:t>w </a:t>
            </a:r>
            <a:r>
              <a:rPr lang="en-GB" dirty="0"/>
              <a:t>t</a:t>
            </a:r>
            <a:r>
              <a:rPr lang="en-001" dirty="0"/>
              <a:t>o </a:t>
            </a:r>
            <a:r>
              <a:rPr lang="en-GB" dirty="0" err="1"/>
              <a:t>i</a:t>
            </a:r>
            <a:r>
              <a:rPr lang="en-001" dirty="0"/>
              <a:t>n</a:t>
            </a:r>
            <a:r>
              <a:rPr lang="en-GB" dirty="0"/>
              <a:t>c</a:t>
            </a:r>
            <a:r>
              <a:rPr lang="en-001" dirty="0"/>
              <a:t>l</a:t>
            </a:r>
            <a:r>
              <a:rPr lang="en-GB" dirty="0"/>
              <a:t>u</a:t>
            </a:r>
            <a:r>
              <a:rPr lang="en-001" dirty="0"/>
              <a:t>d</a:t>
            </a:r>
            <a:r>
              <a:rPr lang="en-GB" dirty="0"/>
              <a:t>e</a:t>
            </a:r>
            <a:r>
              <a:rPr lang="en-001" dirty="0"/>
              <a:t> gender??</a:t>
            </a:r>
          </a:p>
          <a:p>
            <a:endParaRPr lang="en-001" dirty="0"/>
          </a:p>
          <a:p>
            <a:r>
              <a:rPr lang="en-001" dirty="0"/>
              <a:t>Dummy Coding:</a:t>
            </a:r>
          </a:p>
          <a:p>
            <a:pPr lvl="1"/>
            <a:r>
              <a:rPr lang="en-GB" dirty="0"/>
              <a:t>F</a:t>
            </a:r>
            <a:r>
              <a:rPr lang="en-001" dirty="0"/>
              <a:t>e</a:t>
            </a:r>
            <a:r>
              <a:rPr lang="en-GB" dirty="0"/>
              <a:t>m</a:t>
            </a:r>
            <a:r>
              <a:rPr lang="en-001" dirty="0"/>
              <a:t>a</a:t>
            </a:r>
            <a:r>
              <a:rPr lang="en-GB" dirty="0"/>
              <a:t>l</a:t>
            </a:r>
            <a:r>
              <a:rPr lang="en-001" dirty="0"/>
              <a:t>e: M=0</a:t>
            </a:r>
          </a:p>
          <a:p>
            <a:pPr lvl="1"/>
            <a:r>
              <a:rPr lang="en-GB" dirty="0"/>
              <a:t>M</a:t>
            </a:r>
            <a:r>
              <a:rPr lang="en-001" dirty="0"/>
              <a:t>a</a:t>
            </a:r>
            <a:r>
              <a:rPr lang="en-GB" dirty="0"/>
              <a:t>l</a:t>
            </a:r>
            <a:r>
              <a:rPr lang="en-001" dirty="0"/>
              <a:t>e:     </a:t>
            </a:r>
            <a:r>
              <a:rPr lang="en-GB" dirty="0"/>
              <a:t>M</a:t>
            </a:r>
            <a:r>
              <a:rPr lang="en-001" dirty="0"/>
              <a:t>=1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AA03E-9511-4944-9858-EB70AD62E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72431"/>
            <a:ext cx="3473913" cy="48879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601AA9-F453-4185-8A10-C91D1CE2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80897"/>
            <a:ext cx="4055806" cy="4869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082D0B-2318-4A96-B570-F0698EE47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895850"/>
            <a:ext cx="4181475" cy="857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A92A9A-74E0-40DC-B2F4-27655CD173E9}"/>
              </a:ext>
            </a:extLst>
          </p:cNvPr>
          <p:cNvSpPr/>
          <p:nvPr/>
        </p:nvSpPr>
        <p:spPr>
          <a:xfrm>
            <a:off x="2015612" y="1880897"/>
            <a:ext cx="698091" cy="4441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A71411-EA1E-4B7A-997E-890D99B284FF}"/>
              </a:ext>
            </a:extLst>
          </p:cNvPr>
          <p:cNvSpPr/>
          <p:nvPr/>
        </p:nvSpPr>
        <p:spPr>
          <a:xfrm>
            <a:off x="3382295" y="1880897"/>
            <a:ext cx="698091" cy="4441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8B649E-C838-46C1-A0A9-659A2854BAE1}"/>
              </a:ext>
            </a:extLst>
          </p:cNvPr>
          <p:cNvSpPr/>
          <p:nvPr/>
        </p:nvSpPr>
        <p:spPr>
          <a:xfrm>
            <a:off x="4762834" y="1870585"/>
            <a:ext cx="557982" cy="4441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3170ED-C1BB-477F-A8C7-5A51CFCDD508}"/>
              </a:ext>
            </a:extLst>
          </p:cNvPr>
          <p:cNvSpPr txBox="1"/>
          <p:nvPr/>
        </p:nvSpPr>
        <p:spPr>
          <a:xfrm>
            <a:off x="2246672" y="1321743"/>
            <a:ext cx="3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001" b="1" dirty="0">
                <a:solidFill>
                  <a:srgbClr val="FF0000"/>
                </a:solidFill>
              </a:rPr>
              <a:t>y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A0F8B-EC33-4AF9-B022-30B8A95E96AF}"/>
              </a:ext>
            </a:extLst>
          </p:cNvPr>
          <p:cNvSpPr txBox="1"/>
          <p:nvPr/>
        </p:nvSpPr>
        <p:spPr>
          <a:xfrm>
            <a:off x="3706760" y="1313277"/>
            <a:ext cx="3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001" b="1" dirty="0">
                <a:solidFill>
                  <a:srgbClr val="FF0000"/>
                </a:solidFill>
              </a:rPr>
              <a:t>x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C9F0D-F1A8-4D33-91FF-99F60F188561}"/>
              </a:ext>
            </a:extLst>
          </p:cNvPr>
          <p:cNvSpPr txBox="1"/>
          <p:nvPr/>
        </p:nvSpPr>
        <p:spPr>
          <a:xfrm>
            <a:off x="4855012" y="1313277"/>
            <a:ext cx="3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001" b="1" dirty="0">
                <a:solidFill>
                  <a:srgbClr val="FF0000"/>
                </a:solidFill>
              </a:rPr>
              <a:t>M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32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2206-32EA-4F0F-863D-735A054A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C</a:t>
            </a:r>
            <a:r>
              <a:rPr lang="en-GB" dirty="0"/>
              <a:t>a</a:t>
            </a:r>
            <a:r>
              <a:rPr lang="en-001" dirty="0"/>
              <a:t>t</a:t>
            </a:r>
            <a:r>
              <a:rPr lang="en-GB" dirty="0"/>
              <a:t>e</a:t>
            </a:r>
            <a:r>
              <a:rPr lang="en-001" dirty="0"/>
              <a:t>g</a:t>
            </a:r>
            <a:r>
              <a:rPr lang="en-GB" dirty="0"/>
              <a:t>o</a:t>
            </a:r>
            <a:r>
              <a:rPr lang="en-001" dirty="0"/>
              <a:t>r</a:t>
            </a:r>
            <a:r>
              <a:rPr lang="en-GB" dirty="0" err="1"/>
              <a:t>i</a:t>
            </a:r>
            <a:r>
              <a:rPr lang="en-001" dirty="0"/>
              <a:t>c</a:t>
            </a:r>
            <a:r>
              <a:rPr lang="en-GB" dirty="0"/>
              <a:t>a</a:t>
            </a:r>
            <a:r>
              <a:rPr lang="en-001" dirty="0"/>
              <a:t>l </a:t>
            </a:r>
            <a:r>
              <a:rPr lang="en-GB" dirty="0"/>
              <a:t>v</a:t>
            </a:r>
            <a:r>
              <a:rPr lang="en-001" dirty="0"/>
              <a:t>a</a:t>
            </a:r>
            <a:r>
              <a:rPr lang="en-GB" dirty="0"/>
              <a:t>r</a:t>
            </a:r>
            <a:r>
              <a:rPr lang="en-001" dirty="0" err="1"/>
              <a:t>i</a:t>
            </a:r>
            <a:r>
              <a:rPr lang="en-GB" dirty="0"/>
              <a:t>a</a:t>
            </a:r>
            <a:r>
              <a:rPr lang="en-001" dirty="0"/>
              <a:t>b</a:t>
            </a:r>
            <a:r>
              <a:rPr lang="en-GB" dirty="0"/>
              <a:t>l</a:t>
            </a:r>
            <a:r>
              <a:rPr lang="en-001" dirty="0"/>
              <a:t>e</a:t>
            </a:r>
            <a:r>
              <a:rPr lang="en-GB" dirty="0"/>
              <a:t>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AA03E-9511-4944-9858-EB70AD62E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72431"/>
            <a:ext cx="3473913" cy="48879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601AA9-F453-4185-8A10-C91D1CE2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80897"/>
            <a:ext cx="4055806" cy="4869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082D0B-2318-4A96-B570-F0698EE47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009" y="1880897"/>
            <a:ext cx="4181475" cy="857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A92A9A-74E0-40DC-B2F4-27655CD173E9}"/>
              </a:ext>
            </a:extLst>
          </p:cNvPr>
          <p:cNvSpPr/>
          <p:nvPr/>
        </p:nvSpPr>
        <p:spPr>
          <a:xfrm>
            <a:off x="2015612" y="1880897"/>
            <a:ext cx="698091" cy="4441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A71411-EA1E-4B7A-997E-890D99B284FF}"/>
              </a:ext>
            </a:extLst>
          </p:cNvPr>
          <p:cNvSpPr/>
          <p:nvPr/>
        </p:nvSpPr>
        <p:spPr>
          <a:xfrm>
            <a:off x="3382295" y="1880897"/>
            <a:ext cx="698091" cy="4441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8B649E-C838-46C1-A0A9-659A2854BAE1}"/>
              </a:ext>
            </a:extLst>
          </p:cNvPr>
          <p:cNvSpPr/>
          <p:nvPr/>
        </p:nvSpPr>
        <p:spPr>
          <a:xfrm>
            <a:off x="4762834" y="1870585"/>
            <a:ext cx="557982" cy="4441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3170ED-C1BB-477F-A8C7-5A51CFCDD508}"/>
              </a:ext>
            </a:extLst>
          </p:cNvPr>
          <p:cNvSpPr txBox="1"/>
          <p:nvPr/>
        </p:nvSpPr>
        <p:spPr>
          <a:xfrm>
            <a:off x="2246672" y="1321743"/>
            <a:ext cx="3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001" b="1" dirty="0">
                <a:solidFill>
                  <a:srgbClr val="FF0000"/>
                </a:solidFill>
              </a:rPr>
              <a:t>y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A0F8B-EC33-4AF9-B022-30B8A95E96AF}"/>
              </a:ext>
            </a:extLst>
          </p:cNvPr>
          <p:cNvSpPr txBox="1"/>
          <p:nvPr/>
        </p:nvSpPr>
        <p:spPr>
          <a:xfrm>
            <a:off x="3706760" y="1313277"/>
            <a:ext cx="3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001" b="1" dirty="0">
                <a:solidFill>
                  <a:srgbClr val="FF0000"/>
                </a:solidFill>
              </a:rPr>
              <a:t>x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C9F0D-F1A8-4D33-91FF-99F60F188561}"/>
              </a:ext>
            </a:extLst>
          </p:cNvPr>
          <p:cNvSpPr txBox="1"/>
          <p:nvPr/>
        </p:nvSpPr>
        <p:spPr>
          <a:xfrm>
            <a:off x="4855012" y="1313277"/>
            <a:ext cx="373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001" b="1" dirty="0">
                <a:solidFill>
                  <a:srgbClr val="FF0000"/>
                </a:solidFill>
              </a:rPr>
              <a:t>M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179C39-1385-43CA-AD73-97AA2D299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937" y="2930821"/>
            <a:ext cx="5854439" cy="374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6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626AE-DF72-438C-BD36-AD885815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Categorical Variables</a:t>
            </a:r>
            <a:endParaRPr lang="en-GB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5554015-11E5-4F8D-8B43-A66D2B5B8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404" y="1750140"/>
            <a:ext cx="8291720" cy="488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484B24-DD76-4F28-A644-29A014E248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439" r="64275" b="29958"/>
          <a:stretch/>
        </p:blipFill>
        <p:spPr>
          <a:xfrm>
            <a:off x="9577370" y="1750140"/>
            <a:ext cx="2486060" cy="1494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4A8C71-C4BE-44F6-9C6E-09258C3B1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663" y="360720"/>
            <a:ext cx="418147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19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8866-9602-4FC5-8DA8-6A683D9A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034845"/>
          </a:xfrm>
        </p:spPr>
        <p:txBody>
          <a:bodyPr/>
          <a:lstStyle/>
          <a:p>
            <a:r>
              <a:rPr lang="en-001" dirty="0"/>
              <a:t>I</a:t>
            </a:r>
            <a:r>
              <a:rPr lang="en-GB" dirty="0"/>
              <a:t>n</a:t>
            </a:r>
            <a:r>
              <a:rPr lang="en-001" dirty="0"/>
              <a:t>t</a:t>
            </a:r>
            <a:r>
              <a:rPr lang="en-GB" dirty="0"/>
              <a:t>e</a:t>
            </a:r>
            <a:r>
              <a:rPr lang="en-001" dirty="0"/>
              <a:t>r</a:t>
            </a:r>
            <a:r>
              <a:rPr lang="en-GB" dirty="0"/>
              <a:t>a</a:t>
            </a:r>
            <a:r>
              <a:rPr lang="en-001" dirty="0"/>
              <a:t>c</a:t>
            </a:r>
            <a:r>
              <a:rPr lang="en-GB" dirty="0"/>
              <a:t>t</a:t>
            </a:r>
            <a:r>
              <a:rPr lang="en-001" dirty="0" err="1"/>
              <a:t>i</a:t>
            </a:r>
            <a:r>
              <a:rPr lang="en-GB" dirty="0"/>
              <a:t>o</a:t>
            </a:r>
            <a:r>
              <a:rPr lang="en-001" dirty="0"/>
              <a:t>n</a:t>
            </a:r>
            <a:r>
              <a:rPr lang="en-GB" dirty="0"/>
              <a:t>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5F8FC-5F30-4AC4-B3FE-A31E37C3A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/>
          <a:lstStyle/>
          <a:p>
            <a:r>
              <a:rPr lang="en-001" dirty="0"/>
              <a:t>I</a:t>
            </a:r>
            <a:r>
              <a:rPr lang="en-GB" dirty="0"/>
              <a:t>s</a:t>
            </a:r>
            <a:r>
              <a:rPr lang="en-001" dirty="0"/>
              <a:t> </a:t>
            </a:r>
            <a:r>
              <a:rPr lang="en-GB" dirty="0"/>
              <a:t>t</a:t>
            </a:r>
            <a:r>
              <a:rPr lang="en-001" dirty="0"/>
              <a:t>h</a:t>
            </a:r>
            <a:r>
              <a:rPr lang="en-GB" dirty="0"/>
              <a:t>e</a:t>
            </a:r>
            <a:r>
              <a:rPr lang="en-001" dirty="0"/>
              <a:t>r</a:t>
            </a:r>
            <a:r>
              <a:rPr lang="en-GB" dirty="0"/>
              <a:t>e</a:t>
            </a:r>
            <a:r>
              <a:rPr lang="en-001" dirty="0"/>
              <a:t> </a:t>
            </a:r>
            <a:r>
              <a:rPr lang="en-GB" dirty="0"/>
              <a:t>a</a:t>
            </a:r>
            <a:r>
              <a:rPr lang="en-001" dirty="0"/>
              <a:t> </a:t>
            </a:r>
            <a:r>
              <a:rPr lang="en-GB" dirty="0"/>
              <a:t>d</a:t>
            </a:r>
            <a:r>
              <a:rPr lang="en-001" dirty="0" err="1"/>
              <a:t>i</a:t>
            </a:r>
            <a:r>
              <a:rPr lang="en-GB" dirty="0"/>
              <a:t>f</a:t>
            </a:r>
            <a:r>
              <a:rPr lang="en-001" dirty="0"/>
              <a:t>f</a:t>
            </a:r>
            <a:r>
              <a:rPr lang="en-GB" dirty="0"/>
              <a:t>e</a:t>
            </a:r>
            <a:r>
              <a:rPr lang="en-001" dirty="0"/>
              <a:t>r</a:t>
            </a:r>
            <a:r>
              <a:rPr lang="en-GB" dirty="0"/>
              <a:t>e</a:t>
            </a:r>
            <a:r>
              <a:rPr lang="en-001" dirty="0"/>
              <a:t>n</a:t>
            </a:r>
            <a:r>
              <a:rPr lang="en-GB" dirty="0"/>
              <a:t>c</a:t>
            </a:r>
            <a:r>
              <a:rPr lang="en-001" dirty="0"/>
              <a:t>e </a:t>
            </a:r>
            <a:r>
              <a:rPr lang="en-GB" dirty="0" err="1"/>
              <a:t>i</a:t>
            </a:r>
            <a:r>
              <a:rPr lang="en-001" dirty="0"/>
              <a:t>n </a:t>
            </a:r>
            <a:r>
              <a:rPr lang="en-GB" dirty="0"/>
              <a:t>s</a:t>
            </a:r>
            <a:r>
              <a:rPr lang="en-001" dirty="0"/>
              <a:t>l</a:t>
            </a:r>
            <a:r>
              <a:rPr lang="en-GB" dirty="0"/>
              <a:t>o</a:t>
            </a:r>
            <a:r>
              <a:rPr lang="en-001" dirty="0"/>
              <a:t>p</a:t>
            </a:r>
            <a:r>
              <a:rPr lang="en-GB" dirty="0"/>
              <a:t>e</a:t>
            </a:r>
            <a:r>
              <a:rPr lang="en-001" dirty="0"/>
              <a:t> </a:t>
            </a:r>
            <a:r>
              <a:rPr lang="en-GB" dirty="0"/>
              <a:t>b</a:t>
            </a:r>
            <a:r>
              <a:rPr lang="en-001" dirty="0"/>
              <a:t>e</a:t>
            </a:r>
            <a:r>
              <a:rPr lang="en-GB" dirty="0"/>
              <a:t>t</a:t>
            </a:r>
            <a:r>
              <a:rPr lang="en-001" dirty="0"/>
              <a:t>w</a:t>
            </a:r>
            <a:r>
              <a:rPr lang="en-GB" dirty="0"/>
              <a:t>e</a:t>
            </a:r>
            <a:r>
              <a:rPr lang="en-001" dirty="0"/>
              <a:t>e</a:t>
            </a:r>
            <a:r>
              <a:rPr lang="en-GB" dirty="0"/>
              <a:t>n</a:t>
            </a:r>
            <a:r>
              <a:rPr lang="en-001" dirty="0"/>
              <a:t> </a:t>
            </a:r>
            <a:r>
              <a:rPr lang="en-GB" dirty="0"/>
              <a:t>m</a:t>
            </a:r>
            <a:r>
              <a:rPr lang="en-001" dirty="0"/>
              <a:t>a</a:t>
            </a:r>
            <a:r>
              <a:rPr lang="en-GB" dirty="0"/>
              <a:t>l</a:t>
            </a:r>
            <a:r>
              <a:rPr lang="en-001" dirty="0"/>
              <a:t>e</a:t>
            </a:r>
            <a:r>
              <a:rPr lang="en-GB" dirty="0"/>
              <a:t>s</a:t>
            </a:r>
            <a:r>
              <a:rPr lang="en-001" dirty="0"/>
              <a:t> </a:t>
            </a:r>
            <a:r>
              <a:rPr lang="en-GB" dirty="0"/>
              <a:t>a</a:t>
            </a:r>
            <a:r>
              <a:rPr lang="en-001" dirty="0"/>
              <a:t>n</a:t>
            </a:r>
            <a:r>
              <a:rPr lang="en-GB" dirty="0"/>
              <a:t>d</a:t>
            </a:r>
            <a:r>
              <a:rPr lang="en-001" dirty="0"/>
              <a:t> </a:t>
            </a:r>
            <a:r>
              <a:rPr lang="en-GB" dirty="0"/>
              <a:t>f</a:t>
            </a:r>
            <a:r>
              <a:rPr lang="en-001" dirty="0"/>
              <a:t>e</a:t>
            </a:r>
            <a:r>
              <a:rPr lang="en-GB" dirty="0"/>
              <a:t>m</a:t>
            </a:r>
            <a:r>
              <a:rPr lang="en-001" dirty="0"/>
              <a:t>a</a:t>
            </a:r>
            <a:r>
              <a:rPr lang="en-GB" dirty="0"/>
              <a:t>l</a:t>
            </a:r>
            <a:r>
              <a:rPr lang="en-001" dirty="0"/>
              <a:t>e</a:t>
            </a:r>
            <a:r>
              <a:rPr lang="en-GB" dirty="0"/>
              <a:t>s</a:t>
            </a:r>
            <a:r>
              <a:rPr lang="en-001" dirty="0"/>
              <a:t>?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E0C97A-5076-43B4-AA5A-8DFE3FBBC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979" y="2690811"/>
            <a:ext cx="5962650" cy="866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B3B751-471F-4BCA-8352-BECD1C9D4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979" y="2700336"/>
            <a:ext cx="6229350" cy="857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5B1631-8060-43BE-A895-F0CB6BFFC7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0864"/>
          <a:stretch/>
        </p:blipFill>
        <p:spPr>
          <a:xfrm>
            <a:off x="2870682" y="3635352"/>
            <a:ext cx="7020905" cy="315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7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0A54-F351-40B8-906C-50551827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</a:t>
            </a:r>
            <a:r>
              <a:rPr lang="en-001" dirty="0" err="1"/>
              <a:t>i</a:t>
            </a:r>
            <a:r>
              <a:rPr lang="en-GB" dirty="0"/>
              <a:t>n</a:t>
            </a:r>
            <a:r>
              <a:rPr lang="en-001" dirty="0"/>
              <a:t>e</a:t>
            </a:r>
            <a:r>
              <a:rPr lang="en-GB" dirty="0"/>
              <a:t>a</a:t>
            </a:r>
            <a:r>
              <a:rPr lang="en-001" dirty="0"/>
              <a:t>r </a:t>
            </a:r>
            <a:r>
              <a:rPr lang="en-GB" dirty="0"/>
              <a:t>M</a:t>
            </a:r>
            <a:r>
              <a:rPr lang="en-001" dirty="0"/>
              <a:t>o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l</a:t>
            </a:r>
            <a:r>
              <a:rPr lang="en-001" dirty="0"/>
              <a:t>s </a:t>
            </a:r>
            <a:r>
              <a:rPr lang="en-GB" dirty="0"/>
              <a:t>a</a:t>
            </a:r>
            <a:r>
              <a:rPr lang="en-001" dirty="0"/>
              <a:t>r</a:t>
            </a:r>
            <a:r>
              <a:rPr lang="en-GB" dirty="0"/>
              <a:t>e</a:t>
            </a:r>
            <a:r>
              <a:rPr lang="en-001" dirty="0"/>
              <a:t> </a:t>
            </a:r>
            <a:r>
              <a:rPr lang="en-GB" dirty="0"/>
              <a:t>no</a:t>
            </a:r>
            <a:r>
              <a:rPr lang="en-001" dirty="0"/>
              <a:t>t </a:t>
            </a:r>
            <a:r>
              <a:rPr lang="en-GB" dirty="0"/>
              <a:t>j</a:t>
            </a:r>
            <a:r>
              <a:rPr lang="en-001" dirty="0"/>
              <a:t>u</a:t>
            </a:r>
            <a:r>
              <a:rPr lang="en-GB" dirty="0"/>
              <a:t>s</a:t>
            </a:r>
            <a:r>
              <a:rPr lang="en-001" dirty="0"/>
              <a:t>t </a:t>
            </a:r>
            <a:r>
              <a:rPr lang="en-GB" dirty="0"/>
              <a:t>a</a:t>
            </a:r>
            <a:r>
              <a:rPr lang="en-001" dirty="0"/>
              <a:t>b</a:t>
            </a:r>
            <a:r>
              <a:rPr lang="en-GB" dirty="0"/>
              <a:t>o</a:t>
            </a:r>
            <a:r>
              <a:rPr lang="en-001" dirty="0"/>
              <a:t>u</a:t>
            </a:r>
            <a:r>
              <a:rPr lang="en-GB" dirty="0"/>
              <a:t>t</a:t>
            </a:r>
            <a:r>
              <a:rPr lang="en-001" dirty="0"/>
              <a:t> </a:t>
            </a:r>
            <a:r>
              <a:rPr lang="en-GB" dirty="0"/>
              <a:t>l</a:t>
            </a:r>
            <a:r>
              <a:rPr lang="en-001" dirty="0" err="1"/>
              <a:t>i</a:t>
            </a:r>
            <a:r>
              <a:rPr lang="en-GB" dirty="0"/>
              <a:t>n</a:t>
            </a:r>
            <a:r>
              <a:rPr lang="en-001" dirty="0"/>
              <a:t>e</a:t>
            </a:r>
            <a:r>
              <a:rPr lang="en-GB" dirty="0"/>
              <a:t>s</a:t>
            </a:r>
            <a:r>
              <a:rPr lang="en-001" dirty="0"/>
              <a:t>!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6E2BE-2E17-4845-B613-D87C9F406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001" dirty="0"/>
              <a:t> </a:t>
            </a:r>
            <a:r>
              <a:rPr lang="en-GB" dirty="0"/>
              <a:t>P</a:t>
            </a:r>
            <a:r>
              <a:rPr lang="en-001" dirty="0"/>
              <a:t>o</a:t>
            </a:r>
            <a:r>
              <a:rPr lang="en-GB" dirty="0"/>
              <a:t>l</a:t>
            </a:r>
            <a:r>
              <a:rPr lang="en-001" dirty="0"/>
              <a:t>y</a:t>
            </a:r>
            <a:r>
              <a:rPr lang="en-GB" dirty="0"/>
              <a:t>n</a:t>
            </a:r>
            <a:r>
              <a:rPr lang="en-001" dirty="0"/>
              <a:t>o</a:t>
            </a:r>
            <a:r>
              <a:rPr lang="en-GB" dirty="0"/>
              <a:t>m</a:t>
            </a:r>
            <a:r>
              <a:rPr lang="en-001" dirty="0" err="1"/>
              <a:t>i</a:t>
            </a:r>
            <a:r>
              <a:rPr lang="en-GB" dirty="0"/>
              <a:t>a</a:t>
            </a:r>
            <a:r>
              <a:rPr lang="en-001" dirty="0"/>
              <a:t>l </a:t>
            </a:r>
            <a:r>
              <a:rPr lang="en-GB" dirty="0"/>
              <a:t>r</a:t>
            </a:r>
            <a:r>
              <a:rPr lang="en-001" dirty="0"/>
              <a:t>e</a:t>
            </a:r>
            <a:r>
              <a:rPr lang="en-GB" dirty="0"/>
              <a:t>g</a:t>
            </a:r>
            <a:r>
              <a:rPr lang="en-001" dirty="0"/>
              <a:t>r</a:t>
            </a:r>
            <a:r>
              <a:rPr lang="en-GB" dirty="0"/>
              <a:t>e</a:t>
            </a:r>
            <a:r>
              <a:rPr lang="en-001" dirty="0"/>
              <a:t>s</a:t>
            </a:r>
            <a:r>
              <a:rPr lang="en-GB" dirty="0"/>
              <a:t>s</a:t>
            </a:r>
            <a:r>
              <a:rPr lang="en-001" dirty="0" err="1"/>
              <a:t>i</a:t>
            </a:r>
            <a:r>
              <a:rPr lang="en-GB" dirty="0"/>
              <a:t>o</a:t>
            </a:r>
            <a:r>
              <a:rPr lang="en-001" dirty="0"/>
              <a:t>n</a:t>
            </a:r>
          </a:p>
          <a:p>
            <a:r>
              <a:rPr lang="en-001" dirty="0" err="1"/>
              <a:t>Fourri</a:t>
            </a:r>
            <a:r>
              <a:rPr lang="en-GB" dirty="0"/>
              <a:t>e</a:t>
            </a:r>
            <a:r>
              <a:rPr lang="en-001" dirty="0"/>
              <a:t>r </a:t>
            </a:r>
            <a:r>
              <a:rPr lang="en-GB" dirty="0"/>
              <a:t>s</a:t>
            </a:r>
            <a:r>
              <a:rPr lang="en-001" dirty="0"/>
              <a:t>e</a:t>
            </a:r>
            <a:r>
              <a:rPr lang="en-GB" dirty="0"/>
              <a:t>r</a:t>
            </a:r>
            <a:r>
              <a:rPr lang="en-001" dirty="0" err="1"/>
              <a:t>i</a:t>
            </a:r>
            <a:r>
              <a:rPr lang="en-GB" dirty="0"/>
              <a:t>e</a:t>
            </a:r>
            <a:r>
              <a:rPr lang="en-001" dirty="0"/>
              <a:t>s</a:t>
            </a:r>
          </a:p>
          <a:p>
            <a:r>
              <a:rPr lang="en-GB" dirty="0"/>
              <a:t>S</a:t>
            </a:r>
            <a:r>
              <a:rPr lang="en-001" dirty="0" err="1"/>
              <a:t>plines</a:t>
            </a:r>
            <a:endParaRPr lang="en-001" dirty="0"/>
          </a:p>
          <a:p>
            <a:r>
              <a:rPr lang="en-001" dirty="0"/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FF5E8B-C3C8-415D-96C7-8E2375016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5" y="1594056"/>
            <a:ext cx="4067175" cy="86677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B499152-35B1-4A03-AA7E-E21BD3C45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244" y="2657475"/>
            <a:ext cx="6924675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720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FAD5-CA3F-4406-A758-7C50E925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Multi-level</a:t>
            </a:r>
            <a:r>
              <a:rPr lang="pt-PT" dirty="0"/>
              <a:t> </a:t>
            </a:r>
            <a:r>
              <a:rPr lang="pt-PT" dirty="0" err="1"/>
              <a:t>categorical</a:t>
            </a:r>
            <a:r>
              <a:rPr lang="pt-PT" dirty="0"/>
              <a:t> </a:t>
            </a:r>
            <a:r>
              <a:rPr lang="pt-PT" dirty="0" err="1"/>
              <a:t>variables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3FB294-F587-49A2-9CCE-31BD31603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96" y="1999668"/>
            <a:ext cx="2657846" cy="41725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7A1BE6-C231-437F-A3BC-3938BF4DA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908" y="1923457"/>
            <a:ext cx="3514725" cy="857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6A24B6-D024-472F-8A15-F47DAAD48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441" y="3121497"/>
            <a:ext cx="5887272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92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FAD5-CA3F-4406-A758-7C50E925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Multi-level</a:t>
            </a:r>
            <a:r>
              <a:rPr lang="pt-PT" dirty="0"/>
              <a:t> </a:t>
            </a:r>
            <a:r>
              <a:rPr lang="pt-PT" dirty="0" err="1"/>
              <a:t>categorical</a:t>
            </a:r>
            <a:r>
              <a:rPr lang="pt-PT" dirty="0"/>
              <a:t> </a:t>
            </a:r>
            <a:r>
              <a:rPr lang="pt-PT" dirty="0" err="1"/>
              <a:t>variables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5AF4B8-E6D1-47AF-BC73-79491F000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2270" y="1923457"/>
            <a:ext cx="6469627" cy="4516672"/>
          </a:xfrm>
        </p:spPr>
        <p:txBody>
          <a:bodyPr/>
          <a:lstStyle/>
          <a:p>
            <a:r>
              <a:rPr lang="en-001" dirty="0"/>
              <a:t>Group: A, B and C</a:t>
            </a:r>
          </a:p>
          <a:p>
            <a:pPr lvl="1"/>
            <a:r>
              <a:rPr lang="en-GB" dirty="0"/>
              <a:t>H</a:t>
            </a:r>
            <a:r>
              <a:rPr lang="en-001" dirty="0"/>
              <a:t>ow to encode this?</a:t>
            </a:r>
          </a:p>
          <a:p>
            <a:pPr lvl="1"/>
            <a:r>
              <a:rPr lang="en-GB" dirty="0"/>
              <a:t>D</a:t>
            </a:r>
            <a:r>
              <a:rPr lang="en-001" dirty="0" err="1"/>
              <a:t>efine</a:t>
            </a:r>
            <a:r>
              <a:rPr lang="en-001" dirty="0"/>
              <a:t> 2 dummy variables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3FB294-F587-49A2-9CCE-31BD31603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96" y="1999668"/>
            <a:ext cx="2657846" cy="4172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4246FF-532D-4672-A11F-0EFF3EA5A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96" y="1923457"/>
            <a:ext cx="3496163" cy="424874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1940679-CFC1-4AB5-8CDC-91B334BE23A4}"/>
              </a:ext>
            </a:extLst>
          </p:cNvPr>
          <p:cNvGrpSpPr/>
          <p:nvPr/>
        </p:nvGrpSpPr>
        <p:grpSpPr>
          <a:xfrm>
            <a:off x="5268568" y="3634624"/>
            <a:ext cx="6469626" cy="2170338"/>
            <a:chOff x="5268568" y="3634624"/>
            <a:chExt cx="6469626" cy="217033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E97FA9-11ED-42D1-A2BA-35AEE4179EFC}"/>
                </a:ext>
              </a:extLst>
            </p:cNvPr>
            <p:cNvGrpSpPr/>
            <p:nvPr/>
          </p:nvGrpSpPr>
          <p:grpSpPr>
            <a:xfrm>
              <a:off x="5274853" y="3634624"/>
              <a:ext cx="6463341" cy="619448"/>
              <a:chOff x="5274853" y="3634624"/>
              <a:chExt cx="6463341" cy="61944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092EE1E-06F8-4C20-A75B-C1F3AB29BE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74853" y="3634624"/>
                <a:ext cx="3165379" cy="619448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3ABE19F-DCF3-469B-AE0A-B90A6F16B8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72815" y="3634624"/>
                <a:ext cx="3165379" cy="619448"/>
              </a:xfrm>
              <a:prstGeom prst="rect">
                <a:avLst/>
              </a:prstGeom>
            </p:spPr>
          </p:pic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BA72F57-52BE-42D3-AEC6-514B1DE75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68568" y="4894712"/>
              <a:ext cx="6469626" cy="910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728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FAD5-CA3F-4406-A758-7C50E925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Multi-level</a:t>
            </a:r>
            <a:r>
              <a:rPr lang="pt-PT" dirty="0"/>
              <a:t> </a:t>
            </a:r>
            <a:r>
              <a:rPr lang="pt-PT" dirty="0" err="1"/>
              <a:t>categorical</a:t>
            </a:r>
            <a:r>
              <a:rPr lang="pt-PT" dirty="0"/>
              <a:t> </a:t>
            </a:r>
            <a:r>
              <a:rPr lang="pt-PT" dirty="0" err="1"/>
              <a:t>variables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3FB294-F587-49A2-9CCE-31BD31603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96" y="1999668"/>
            <a:ext cx="2657846" cy="4172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4246FF-532D-4672-A11F-0EFF3EA5A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96" y="1923457"/>
            <a:ext cx="3496163" cy="42487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A72F57-52BE-42D3-AEC6-514B1DE75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380" y="1923457"/>
            <a:ext cx="6296025" cy="885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F6BBFF-D66F-433A-B739-E29BE8228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5380" y="2914100"/>
            <a:ext cx="5934903" cy="39439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F5F191C-8CBB-49E2-A86A-79994716255E}"/>
              </a:ext>
            </a:extLst>
          </p:cNvPr>
          <p:cNvSpPr/>
          <p:nvPr/>
        </p:nvSpPr>
        <p:spPr>
          <a:xfrm>
            <a:off x="5445381" y="4916129"/>
            <a:ext cx="5934902" cy="255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54CB44-AD13-4443-97EF-F7C1FA250A8B}"/>
              </a:ext>
            </a:extLst>
          </p:cNvPr>
          <p:cNvSpPr txBox="1"/>
          <p:nvPr/>
        </p:nvSpPr>
        <p:spPr>
          <a:xfrm>
            <a:off x="11523406" y="4748980"/>
            <a:ext cx="568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001" sz="3200" b="1" dirty="0">
                <a:solidFill>
                  <a:srgbClr val="FF0000"/>
                </a:solidFill>
              </a:rPr>
              <a:t>?</a:t>
            </a:r>
            <a:endParaRPr lang="en-GB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0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4DA0-4684-4D4E-B1FC-820E79010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21815"/>
            <a:ext cx="9601200" cy="1485900"/>
          </a:xfrm>
        </p:spPr>
        <p:txBody>
          <a:bodyPr/>
          <a:lstStyle/>
          <a:p>
            <a:endParaRPr lang="en-GB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545FD2C-2A0A-4E22-8254-E48F42559F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232" y="1638035"/>
            <a:ext cx="7086600" cy="4955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F5FC9A-1279-4BB0-9231-65A4A1238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519" y="464829"/>
            <a:ext cx="62960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62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9E4B19-1364-476C-BD45-8D4B9D58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001" dirty="0"/>
              <a:t>C</a:t>
            </a:r>
            <a:r>
              <a:rPr lang="en-GB" dirty="0"/>
              <a:t>o</a:t>
            </a:r>
            <a:r>
              <a:rPr lang="en-001" dirty="0" err="1"/>
              <a:t>mmon</a:t>
            </a:r>
            <a:r>
              <a:rPr lang="en-001" dirty="0"/>
              <a:t> Statistical tests as Linear Model</a:t>
            </a:r>
            <a:r>
              <a:rPr lang="en-GB" dirty="0"/>
              <a:t>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CCF2F-EDCA-47EC-BC7A-F7B572FBC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612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20348-D284-44CD-98B0-ACB74588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457200"/>
            <a:ext cx="6016752" cy="859536"/>
          </a:xfrm>
        </p:spPr>
        <p:txBody>
          <a:bodyPr>
            <a:normAutofit/>
          </a:bodyPr>
          <a:lstStyle/>
          <a:p>
            <a:r>
              <a:rPr lang="en-GB" dirty="0"/>
              <a:t>L</a:t>
            </a:r>
            <a:r>
              <a:rPr lang="en-001" dirty="0" err="1"/>
              <a:t>i</a:t>
            </a:r>
            <a:r>
              <a:rPr lang="en-GB" dirty="0"/>
              <a:t>n</a:t>
            </a:r>
            <a:r>
              <a:rPr lang="en-001" dirty="0"/>
              <a:t>e</a:t>
            </a:r>
            <a:r>
              <a:rPr lang="en-GB" dirty="0"/>
              <a:t>a</a:t>
            </a:r>
            <a:r>
              <a:rPr lang="en-001" dirty="0"/>
              <a:t>r </a:t>
            </a:r>
            <a:r>
              <a:rPr lang="en-GB" dirty="0"/>
              <a:t>M</a:t>
            </a:r>
            <a:r>
              <a:rPr lang="en-001" dirty="0"/>
              <a:t>o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l</a:t>
            </a:r>
            <a:r>
              <a:rPr lang="en-001" dirty="0"/>
              <a:t>s</a:t>
            </a:r>
            <a:endParaRPr lang="en-GB" dirty="0"/>
          </a:p>
        </p:txBody>
      </p:sp>
      <p:pic>
        <p:nvPicPr>
          <p:cNvPr id="4" name="Picture 2" descr="Choosing appropriate statistics test flow chart">
            <a:extLst>
              <a:ext uri="{FF2B5EF4-FFF2-40B4-BE49-F238E27FC236}">
                <a16:creationId xmlns:a16="http://schemas.microsoft.com/office/drawing/2014/main" id="{0756E0D6-C213-43E8-936B-C23CB8AF79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16" y="232612"/>
            <a:ext cx="4937759" cy="639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E4A53D-6C8F-4BA8-8271-0B4C4ADC04C4}"/>
              </a:ext>
            </a:extLst>
          </p:cNvPr>
          <p:cNvSpPr txBox="1"/>
          <p:nvPr/>
        </p:nvSpPr>
        <p:spPr>
          <a:xfrm>
            <a:off x="822960" y="1746504"/>
            <a:ext cx="60533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001" dirty="0"/>
              <a:t>Everything is a linear model</a:t>
            </a:r>
          </a:p>
          <a:p>
            <a:endParaRPr lang="en-00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001" dirty="0"/>
              <a:t>Many statistical tests can be cast as Linear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00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001" dirty="0"/>
              <a:t>Linear models are </a:t>
            </a:r>
            <a:r>
              <a:rPr lang="en-GB" dirty="0"/>
              <a:t>a</a:t>
            </a:r>
            <a:r>
              <a:rPr lang="en-001" dirty="0"/>
              <a:t> framework </a:t>
            </a:r>
            <a:r>
              <a:rPr lang="en-GB" dirty="0"/>
              <a:t>f</a:t>
            </a:r>
            <a:r>
              <a:rPr lang="en-001" dirty="0"/>
              <a:t>o</a:t>
            </a:r>
            <a:r>
              <a:rPr lang="en-GB" dirty="0"/>
              <a:t>r</a:t>
            </a:r>
            <a:r>
              <a:rPr lang="en-001" dirty="0"/>
              <a:t> developing statistical models that are tailored to your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00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</a:t>
            </a:r>
            <a:r>
              <a:rPr lang="en-001" dirty="0"/>
              <a:t>n</a:t>
            </a:r>
            <a:r>
              <a:rPr lang="en-GB" dirty="0"/>
              <a:t>l</a:t>
            </a:r>
            <a:r>
              <a:rPr lang="en-001" dirty="0"/>
              <a:t>y 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t</a:t>
            </a:r>
            <a:r>
              <a:rPr lang="en-001" dirty="0"/>
              <a:t>e</a:t>
            </a:r>
            <a:r>
              <a:rPr lang="en-GB" dirty="0"/>
              <a:t>r</a:t>
            </a:r>
            <a:r>
              <a:rPr lang="en-001" dirty="0"/>
              <a:t>m</a:t>
            </a:r>
            <a:r>
              <a:rPr lang="en-GB" dirty="0" err="1"/>
              <a:t>i</a:t>
            </a:r>
            <a:r>
              <a:rPr lang="en-001" dirty="0"/>
              <a:t>n</a:t>
            </a:r>
            <a:r>
              <a:rPr lang="en-GB" dirty="0"/>
              <a:t>e</a:t>
            </a:r>
            <a:r>
              <a:rPr lang="en-001" dirty="0"/>
              <a:t>s </a:t>
            </a:r>
            <a:r>
              <a:rPr lang="en-GB" dirty="0"/>
              <a:t>a</a:t>
            </a:r>
            <a:r>
              <a:rPr lang="en-001" dirty="0"/>
              <a:t>s</a:t>
            </a:r>
            <a:r>
              <a:rPr lang="en-GB" dirty="0"/>
              <a:t>s</a:t>
            </a:r>
            <a:r>
              <a:rPr lang="en-001" dirty="0"/>
              <a:t>o</a:t>
            </a:r>
            <a:r>
              <a:rPr lang="en-GB" dirty="0"/>
              <a:t>c</a:t>
            </a:r>
            <a:r>
              <a:rPr lang="en-001" dirty="0" err="1"/>
              <a:t>i</a:t>
            </a:r>
            <a:r>
              <a:rPr lang="en-GB" dirty="0"/>
              <a:t>a</a:t>
            </a:r>
            <a:r>
              <a:rPr lang="en-001" dirty="0"/>
              <a:t>t</a:t>
            </a:r>
            <a:r>
              <a:rPr lang="en-GB" dirty="0" err="1"/>
              <a:t>i</a:t>
            </a:r>
            <a:r>
              <a:rPr lang="en-001" dirty="0"/>
              <a:t>o</a:t>
            </a:r>
            <a:r>
              <a:rPr lang="en-GB" dirty="0"/>
              <a:t>n</a:t>
            </a:r>
            <a:r>
              <a:rPr lang="en-001" dirty="0"/>
              <a:t>s - NOT CAUSAL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00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001" dirty="0"/>
              <a:t>Need to know </a:t>
            </a:r>
            <a:r>
              <a:rPr lang="en-001" dirty="0" err="1"/>
              <a:t>wha</a:t>
            </a:r>
            <a:r>
              <a:rPr lang="en-GB" dirty="0"/>
              <a:t>t</a:t>
            </a:r>
            <a:r>
              <a:rPr lang="en-001" dirty="0"/>
              <a:t> </a:t>
            </a:r>
            <a:r>
              <a:rPr lang="en-GB" dirty="0"/>
              <a:t>a</a:t>
            </a:r>
            <a:r>
              <a:rPr lang="en-001" dirty="0"/>
              <a:t>r</a:t>
            </a:r>
            <a:r>
              <a:rPr lang="en-GB" dirty="0"/>
              <a:t>e</a:t>
            </a:r>
            <a:r>
              <a:rPr lang="en-001" dirty="0"/>
              <a:t> </a:t>
            </a:r>
            <a:r>
              <a:rPr lang="en-GB" dirty="0"/>
              <a:t>y</a:t>
            </a:r>
            <a:r>
              <a:rPr lang="en-001" dirty="0"/>
              <a:t>o</a:t>
            </a:r>
            <a:r>
              <a:rPr lang="en-GB" dirty="0"/>
              <a:t>u</a:t>
            </a:r>
            <a:r>
              <a:rPr lang="en-001" dirty="0"/>
              <a:t> </a:t>
            </a:r>
            <a:r>
              <a:rPr lang="en-GB" dirty="0"/>
              <a:t>d</a:t>
            </a:r>
            <a:r>
              <a:rPr lang="en-001" dirty="0"/>
              <a:t>o</a:t>
            </a:r>
            <a:r>
              <a:rPr lang="en-GB" dirty="0" err="1"/>
              <a:t>i</a:t>
            </a:r>
            <a:r>
              <a:rPr lang="en-001" dirty="0"/>
              <a:t>n</a:t>
            </a:r>
            <a:r>
              <a:rPr lang="en-GB" dirty="0"/>
              <a:t>g</a:t>
            </a:r>
            <a:r>
              <a:rPr lang="en-001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00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9759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BECB41-B68B-46A7-B5EC-2AAD4B9C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t-</a:t>
            </a:r>
            <a:r>
              <a:rPr lang="en-GB" dirty="0"/>
              <a:t>t</a:t>
            </a:r>
            <a:r>
              <a:rPr lang="en-001" dirty="0" err="1"/>
              <a:t>est</a:t>
            </a:r>
            <a:r>
              <a:rPr lang="pt-PT" dirty="0"/>
              <a:t> (</a:t>
            </a:r>
            <a:r>
              <a:rPr lang="pt-PT" dirty="0" err="1"/>
              <a:t>one</a:t>
            </a:r>
            <a:r>
              <a:rPr lang="pt-PT" dirty="0"/>
              <a:t> sample)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BA91AF-5581-453F-A27D-0B7161322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Check</a:t>
            </a:r>
            <a:r>
              <a:rPr lang="pt-PT" dirty="0"/>
              <a:t>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mean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different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zero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D1F8C6-37C6-4DE2-9993-CD68DDE2B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991" y="3252787"/>
            <a:ext cx="1085850" cy="352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53B61E-B9BA-40D7-8132-15B8FEBD2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498" y="2285999"/>
            <a:ext cx="2584828" cy="42360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61ADC8-7D05-4962-9334-78243BEA5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141" y="4571777"/>
            <a:ext cx="4544059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32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BECB41-B68B-46A7-B5EC-2AAD4B9C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52400"/>
            <a:ext cx="9601200" cy="1485900"/>
          </a:xfrm>
        </p:spPr>
        <p:txBody>
          <a:bodyPr/>
          <a:lstStyle/>
          <a:p>
            <a:r>
              <a:rPr lang="en-001" dirty="0"/>
              <a:t>t-</a:t>
            </a:r>
            <a:r>
              <a:rPr lang="en-GB" dirty="0"/>
              <a:t>t</a:t>
            </a:r>
            <a:r>
              <a:rPr lang="en-001" dirty="0" err="1"/>
              <a:t>est</a:t>
            </a:r>
            <a:r>
              <a:rPr lang="en-001" dirty="0"/>
              <a:t> (2 </a:t>
            </a:r>
            <a:r>
              <a:rPr lang="en-GB" dirty="0" err="1"/>
              <a:t>i</a:t>
            </a:r>
            <a:r>
              <a:rPr lang="en-001" dirty="0"/>
              <a:t>n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p</a:t>
            </a:r>
            <a:r>
              <a:rPr lang="en-001" dirty="0"/>
              <a:t>e</a:t>
            </a:r>
            <a:r>
              <a:rPr lang="en-GB" dirty="0"/>
              <a:t>n</a:t>
            </a:r>
            <a:r>
              <a:rPr lang="en-001" dirty="0"/>
              <a:t>d</a:t>
            </a:r>
            <a:r>
              <a:rPr lang="en-GB" dirty="0"/>
              <a:t>e</a:t>
            </a:r>
            <a:r>
              <a:rPr lang="en-001" dirty="0"/>
              <a:t>n</a:t>
            </a:r>
            <a:r>
              <a:rPr lang="en-GB" dirty="0"/>
              <a:t>t</a:t>
            </a:r>
            <a:r>
              <a:rPr lang="en-001" dirty="0"/>
              <a:t> samples)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BA91AF-5581-453F-A27D-0B7161322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895350"/>
            <a:ext cx="9601200" cy="3581400"/>
          </a:xfrm>
        </p:spPr>
        <p:txBody>
          <a:bodyPr/>
          <a:lstStyle/>
          <a:p>
            <a:r>
              <a:rPr lang="pt-PT" dirty="0" err="1"/>
              <a:t>Comparison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mean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2 </a:t>
            </a:r>
            <a:r>
              <a:rPr lang="pt-PT" dirty="0" err="1"/>
              <a:t>populations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3A21FE-73F1-4A34-B23F-483302D76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782" y="1471780"/>
            <a:ext cx="2466975" cy="847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8910C3-34DA-4975-ACAC-AC119BF52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082" y="766889"/>
            <a:ext cx="4995119" cy="32281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504E95-90FD-48B4-B922-07A3B8526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16" y="4266576"/>
            <a:ext cx="5782482" cy="1901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D36520-A229-48FE-A871-35BC6F1D8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082" y="4175722"/>
            <a:ext cx="5298803" cy="282835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D95779C-B48B-4702-A796-5E30360E41A6}"/>
              </a:ext>
            </a:extLst>
          </p:cNvPr>
          <p:cNvSpPr/>
          <p:nvPr/>
        </p:nvSpPr>
        <p:spPr>
          <a:xfrm>
            <a:off x="884903" y="4847303"/>
            <a:ext cx="3520854" cy="2058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50C09B-B632-43C7-9ABC-866F7E98EF07}"/>
              </a:ext>
            </a:extLst>
          </p:cNvPr>
          <p:cNvSpPr/>
          <p:nvPr/>
        </p:nvSpPr>
        <p:spPr>
          <a:xfrm>
            <a:off x="6853082" y="6045536"/>
            <a:ext cx="4409828" cy="2274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931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8652-072D-4410-8CE1-F1DD53FF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/>
          <a:lstStyle/>
          <a:p>
            <a:r>
              <a:rPr lang="en-GB" dirty="0"/>
              <a:t>O</a:t>
            </a:r>
            <a:r>
              <a:rPr lang="en-001" dirty="0"/>
              <a:t>n</a:t>
            </a:r>
            <a:r>
              <a:rPr lang="en-GB" dirty="0"/>
              <a:t>e</a:t>
            </a:r>
            <a:r>
              <a:rPr lang="en-001" dirty="0"/>
              <a:t>-</a:t>
            </a:r>
            <a:r>
              <a:rPr lang="en-GB" dirty="0"/>
              <a:t>w</a:t>
            </a:r>
            <a:r>
              <a:rPr lang="en-001" dirty="0"/>
              <a:t>a</a:t>
            </a:r>
            <a:r>
              <a:rPr lang="en-GB" dirty="0"/>
              <a:t>y</a:t>
            </a:r>
            <a:r>
              <a:rPr lang="en-001" dirty="0"/>
              <a:t> A</a:t>
            </a:r>
            <a:r>
              <a:rPr lang="en-GB" dirty="0"/>
              <a:t>N</a:t>
            </a:r>
            <a:r>
              <a:rPr lang="en-001" dirty="0"/>
              <a:t>O</a:t>
            </a:r>
            <a:r>
              <a:rPr lang="en-GB" dirty="0"/>
              <a:t>V</a:t>
            </a:r>
            <a:r>
              <a:rPr lang="en-001" dirty="0"/>
              <a:t>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54CA8-E169-464B-8FB3-33A1C06F8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426" y="1066800"/>
            <a:ext cx="9601200" cy="3581400"/>
          </a:xfrm>
        </p:spPr>
        <p:txBody>
          <a:bodyPr/>
          <a:lstStyle/>
          <a:p>
            <a:r>
              <a:rPr lang="en-001" dirty="0"/>
              <a:t>C</a:t>
            </a:r>
            <a:r>
              <a:rPr lang="en-GB" dirty="0"/>
              <a:t>o</a:t>
            </a:r>
            <a:r>
              <a:rPr lang="en-001" dirty="0"/>
              <a:t>m</a:t>
            </a:r>
            <a:r>
              <a:rPr lang="en-GB" dirty="0"/>
              <a:t>p</a:t>
            </a:r>
            <a:r>
              <a:rPr lang="en-001" dirty="0"/>
              <a:t>a</a:t>
            </a:r>
            <a:r>
              <a:rPr lang="en-GB" dirty="0"/>
              <a:t>r</a:t>
            </a:r>
            <a:r>
              <a:rPr lang="en-001" dirty="0" err="1"/>
              <a:t>i</a:t>
            </a:r>
            <a:r>
              <a:rPr lang="en-GB" dirty="0"/>
              <a:t>s</a:t>
            </a:r>
            <a:r>
              <a:rPr lang="en-001" dirty="0"/>
              <a:t>o</a:t>
            </a:r>
            <a:r>
              <a:rPr lang="en-GB" dirty="0"/>
              <a:t>n</a:t>
            </a:r>
            <a:r>
              <a:rPr lang="en-001" dirty="0"/>
              <a:t> </a:t>
            </a:r>
            <a:r>
              <a:rPr lang="en-GB" dirty="0"/>
              <a:t>b</a:t>
            </a:r>
            <a:r>
              <a:rPr lang="en-001" dirty="0"/>
              <a:t>e</a:t>
            </a:r>
            <a:r>
              <a:rPr lang="en-GB" dirty="0"/>
              <a:t>t</a:t>
            </a:r>
            <a:r>
              <a:rPr lang="en-001" dirty="0"/>
              <a:t>w</a:t>
            </a:r>
            <a:r>
              <a:rPr lang="en-GB" dirty="0"/>
              <a:t>e</a:t>
            </a:r>
            <a:r>
              <a:rPr lang="en-001" dirty="0"/>
              <a:t>e</a:t>
            </a:r>
            <a:r>
              <a:rPr lang="en-GB" dirty="0"/>
              <a:t>n</a:t>
            </a:r>
            <a:r>
              <a:rPr lang="en-001" dirty="0"/>
              <a:t> several groups</a:t>
            </a:r>
            <a:endParaRPr lang="en-GB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670985E-8BCE-41DE-9FB8-067BBCE66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748" y="1952625"/>
            <a:ext cx="3514725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D4E173-F36B-40F8-85D4-AE81CE0F3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958" y="1952625"/>
            <a:ext cx="2211294" cy="1721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22E21D-E35A-49A1-8B00-7ABA8473B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026" y="4538969"/>
            <a:ext cx="543877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95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8652-072D-4410-8CE1-F1DD53FF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/>
          <a:lstStyle/>
          <a:p>
            <a:r>
              <a:rPr lang="en-GB" dirty="0"/>
              <a:t>O</a:t>
            </a:r>
            <a:r>
              <a:rPr lang="en-001" dirty="0"/>
              <a:t>n</a:t>
            </a:r>
            <a:r>
              <a:rPr lang="en-GB" dirty="0"/>
              <a:t>e</a:t>
            </a:r>
            <a:r>
              <a:rPr lang="en-001" dirty="0"/>
              <a:t>-</a:t>
            </a:r>
            <a:r>
              <a:rPr lang="en-GB" dirty="0"/>
              <a:t>w</a:t>
            </a:r>
            <a:r>
              <a:rPr lang="en-001" dirty="0"/>
              <a:t>a</a:t>
            </a:r>
            <a:r>
              <a:rPr lang="en-GB" dirty="0"/>
              <a:t>y</a:t>
            </a:r>
            <a:r>
              <a:rPr lang="en-001" dirty="0"/>
              <a:t> A</a:t>
            </a:r>
            <a:r>
              <a:rPr lang="en-GB" dirty="0"/>
              <a:t>N</a:t>
            </a:r>
            <a:r>
              <a:rPr lang="en-001" dirty="0"/>
              <a:t>O</a:t>
            </a:r>
            <a:r>
              <a:rPr lang="en-GB" dirty="0"/>
              <a:t>V</a:t>
            </a:r>
            <a:r>
              <a:rPr lang="en-001" dirty="0"/>
              <a:t>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54CA8-E169-464B-8FB3-33A1C06F8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426" y="1066800"/>
            <a:ext cx="9601200" cy="3581400"/>
          </a:xfrm>
        </p:spPr>
        <p:txBody>
          <a:bodyPr/>
          <a:lstStyle/>
          <a:p>
            <a:r>
              <a:rPr lang="en-001" dirty="0"/>
              <a:t>C</a:t>
            </a:r>
            <a:r>
              <a:rPr lang="en-GB" dirty="0"/>
              <a:t>o</a:t>
            </a:r>
            <a:r>
              <a:rPr lang="en-001" dirty="0"/>
              <a:t>m</a:t>
            </a:r>
            <a:r>
              <a:rPr lang="en-GB" dirty="0"/>
              <a:t>p</a:t>
            </a:r>
            <a:r>
              <a:rPr lang="en-001" dirty="0"/>
              <a:t>a</a:t>
            </a:r>
            <a:r>
              <a:rPr lang="en-GB" dirty="0"/>
              <a:t>r</a:t>
            </a:r>
            <a:r>
              <a:rPr lang="en-001" dirty="0" err="1"/>
              <a:t>i</a:t>
            </a:r>
            <a:r>
              <a:rPr lang="en-GB" dirty="0"/>
              <a:t>s</a:t>
            </a:r>
            <a:r>
              <a:rPr lang="en-001" dirty="0"/>
              <a:t>o</a:t>
            </a:r>
            <a:r>
              <a:rPr lang="en-GB" dirty="0"/>
              <a:t>n</a:t>
            </a:r>
            <a:r>
              <a:rPr lang="en-001" dirty="0"/>
              <a:t> </a:t>
            </a:r>
            <a:r>
              <a:rPr lang="en-GB" dirty="0"/>
              <a:t>b</a:t>
            </a:r>
            <a:r>
              <a:rPr lang="en-001" dirty="0"/>
              <a:t>e</a:t>
            </a:r>
            <a:r>
              <a:rPr lang="en-GB" dirty="0"/>
              <a:t>t</a:t>
            </a:r>
            <a:r>
              <a:rPr lang="en-001" dirty="0"/>
              <a:t>w</a:t>
            </a:r>
            <a:r>
              <a:rPr lang="en-GB" dirty="0"/>
              <a:t>e</a:t>
            </a:r>
            <a:r>
              <a:rPr lang="en-001" dirty="0"/>
              <a:t>e</a:t>
            </a:r>
            <a:r>
              <a:rPr lang="en-GB" dirty="0"/>
              <a:t>n</a:t>
            </a:r>
            <a:r>
              <a:rPr lang="en-001" dirty="0"/>
              <a:t> several groups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97960-C2FB-4B24-9EB1-BE9409CF4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426" y="2228715"/>
            <a:ext cx="4516622" cy="1281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612965-C1DA-4E47-AAE9-2D10B3B80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011" y="2228714"/>
            <a:ext cx="4925522" cy="356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79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5E60-AE8F-4D0A-A41D-451F1FE8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F</a:t>
            </a:r>
            <a:r>
              <a:rPr lang="en-GB" dirty="0"/>
              <a:t>a</a:t>
            </a:r>
            <a:r>
              <a:rPr lang="en-001" dirty="0"/>
              <a:t>c</a:t>
            </a:r>
            <a:r>
              <a:rPr lang="en-GB" dirty="0"/>
              <a:t>t</a:t>
            </a:r>
            <a:r>
              <a:rPr lang="en-001" dirty="0"/>
              <a:t>o</a:t>
            </a:r>
            <a:r>
              <a:rPr lang="en-GB" dirty="0"/>
              <a:t>r</a:t>
            </a:r>
            <a:r>
              <a:rPr lang="en-001" dirty="0" err="1"/>
              <a:t>i</a:t>
            </a:r>
            <a:r>
              <a:rPr lang="en-GB" dirty="0"/>
              <a:t>a</a:t>
            </a:r>
            <a:r>
              <a:rPr lang="en-001" dirty="0"/>
              <a:t>l (</a:t>
            </a:r>
            <a:r>
              <a:rPr lang="en-GB" dirty="0"/>
              <a:t>t</a:t>
            </a:r>
            <a:r>
              <a:rPr lang="en-001" dirty="0"/>
              <a:t>w</a:t>
            </a:r>
            <a:r>
              <a:rPr lang="en-GB" dirty="0"/>
              <a:t>o</a:t>
            </a:r>
            <a:r>
              <a:rPr lang="en-001" dirty="0"/>
              <a:t>-</a:t>
            </a:r>
            <a:r>
              <a:rPr lang="en-GB" dirty="0"/>
              <a:t>w</a:t>
            </a:r>
            <a:r>
              <a:rPr lang="en-001" dirty="0"/>
              <a:t>a</a:t>
            </a:r>
            <a:r>
              <a:rPr lang="en-GB" dirty="0"/>
              <a:t>y</a:t>
            </a:r>
            <a:r>
              <a:rPr lang="en-001" dirty="0"/>
              <a:t>) </a:t>
            </a:r>
            <a:r>
              <a:rPr lang="en-GB" dirty="0"/>
              <a:t>A</a:t>
            </a:r>
            <a:r>
              <a:rPr lang="en-001" dirty="0"/>
              <a:t>N</a:t>
            </a:r>
            <a:r>
              <a:rPr lang="en-GB" dirty="0"/>
              <a:t>O</a:t>
            </a:r>
            <a:r>
              <a:rPr lang="en-001" dirty="0"/>
              <a:t>V</a:t>
            </a:r>
            <a:r>
              <a:rPr lang="en-GB" dirty="0"/>
              <a:t>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92026-6AA6-42E4-B1D0-9D00281A4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001" dirty="0"/>
              <a:t>2 </a:t>
            </a:r>
            <a:r>
              <a:rPr lang="en-GB" dirty="0"/>
              <a:t>c</a:t>
            </a:r>
            <a:r>
              <a:rPr lang="en-001" dirty="0"/>
              <a:t>a</a:t>
            </a:r>
            <a:r>
              <a:rPr lang="en-GB" dirty="0"/>
              <a:t>t</a:t>
            </a:r>
            <a:r>
              <a:rPr lang="en-001" dirty="0"/>
              <a:t>e</a:t>
            </a:r>
            <a:r>
              <a:rPr lang="en-GB" dirty="0"/>
              <a:t>g</a:t>
            </a:r>
            <a:r>
              <a:rPr lang="en-001" dirty="0"/>
              <a:t>o</a:t>
            </a:r>
            <a:r>
              <a:rPr lang="en-GB" dirty="0"/>
              <a:t>r</a:t>
            </a:r>
            <a:r>
              <a:rPr lang="en-001" dirty="0" err="1"/>
              <a:t>i</a:t>
            </a:r>
            <a:r>
              <a:rPr lang="en-GB" dirty="0"/>
              <a:t>c</a:t>
            </a:r>
            <a:r>
              <a:rPr lang="en-001" dirty="0"/>
              <a:t>a</a:t>
            </a:r>
            <a:r>
              <a:rPr lang="en-GB" dirty="0"/>
              <a:t>l</a:t>
            </a:r>
            <a:r>
              <a:rPr lang="en-001" dirty="0"/>
              <a:t> </a:t>
            </a:r>
            <a:r>
              <a:rPr lang="en-GB" dirty="0"/>
              <a:t>f</a:t>
            </a:r>
            <a:r>
              <a:rPr lang="en-001" dirty="0"/>
              <a:t>a</a:t>
            </a:r>
            <a:r>
              <a:rPr lang="en-GB" dirty="0"/>
              <a:t>c</a:t>
            </a:r>
            <a:r>
              <a:rPr lang="en-001" dirty="0"/>
              <a:t>t</a:t>
            </a:r>
            <a:r>
              <a:rPr lang="en-GB" dirty="0"/>
              <a:t>o</a:t>
            </a:r>
            <a:r>
              <a:rPr lang="en-001" dirty="0"/>
              <a:t>r</a:t>
            </a:r>
            <a:r>
              <a:rPr lang="en-GB" dirty="0"/>
              <a:t>s</a:t>
            </a:r>
            <a:r>
              <a:rPr lang="en-001" dirty="0"/>
              <a:t> </a:t>
            </a:r>
          </a:p>
          <a:p>
            <a:pPr lvl="1"/>
            <a:r>
              <a:rPr lang="en-GB" dirty="0"/>
              <a:t>E</a:t>
            </a:r>
            <a:r>
              <a:rPr lang="en-001" dirty="0"/>
              <a:t>g. Strain &amp; Treatment, Replicate &amp; </a:t>
            </a:r>
            <a:r>
              <a:rPr lang="en-GB" dirty="0"/>
              <a:t>T</a:t>
            </a:r>
            <a:r>
              <a:rPr lang="en-001" dirty="0"/>
              <a:t>r</a:t>
            </a:r>
            <a:r>
              <a:rPr lang="en-GB" dirty="0"/>
              <a:t>e</a:t>
            </a:r>
            <a:r>
              <a:rPr lang="en-001" dirty="0"/>
              <a:t>a</a:t>
            </a:r>
            <a:r>
              <a:rPr lang="en-GB" dirty="0"/>
              <a:t>t</a:t>
            </a:r>
            <a:r>
              <a:rPr lang="en-001" dirty="0"/>
              <a:t>m</a:t>
            </a:r>
            <a:r>
              <a:rPr lang="en-GB" dirty="0"/>
              <a:t>e</a:t>
            </a:r>
            <a:r>
              <a:rPr lang="en-001" dirty="0"/>
              <a:t>n</a:t>
            </a:r>
            <a:r>
              <a:rPr lang="en-GB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030860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6EFD2B-6EEB-4B6F-BE43-B7B87ED8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G</a:t>
            </a:r>
            <a:r>
              <a:rPr lang="en-GB" dirty="0"/>
              <a:t>e</a:t>
            </a:r>
            <a:r>
              <a:rPr lang="en-001" dirty="0"/>
              <a:t>n</a:t>
            </a:r>
            <a:r>
              <a:rPr lang="en-GB" dirty="0"/>
              <a:t>e</a:t>
            </a:r>
            <a:r>
              <a:rPr lang="en-001" dirty="0"/>
              <a:t>r</a:t>
            </a:r>
            <a:r>
              <a:rPr lang="en-GB" dirty="0"/>
              <a:t>a</a:t>
            </a:r>
            <a:r>
              <a:rPr lang="en-001" dirty="0"/>
              <a:t>l</a:t>
            </a:r>
            <a:r>
              <a:rPr lang="en-GB" dirty="0" err="1"/>
              <a:t>i</a:t>
            </a:r>
            <a:r>
              <a:rPr lang="en-001" dirty="0"/>
              <a:t>zed Linear Models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FCBE64-CF82-41F6-A40E-C5B4873B2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915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4CA821-7113-4B7A-AE3D-4AF3223B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G</a:t>
            </a:r>
            <a:r>
              <a:rPr lang="en-GB" dirty="0"/>
              <a:t>e</a:t>
            </a:r>
            <a:r>
              <a:rPr lang="en-001" dirty="0"/>
              <a:t>n</a:t>
            </a:r>
            <a:r>
              <a:rPr lang="en-GB" dirty="0"/>
              <a:t>e</a:t>
            </a:r>
            <a:r>
              <a:rPr lang="en-001" dirty="0"/>
              <a:t>r</a:t>
            </a:r>
            <a:r>
              <a:rPr lang="en-GB" dirty="0"/>
              <a:t>a</a:t>
            </a:r>
            <a:r>
              <a:rPr lang="en-001" dirty="0"/>
              <a:t>l</a:t>
            </a:r>
            <a:r>
              <a:rPr lang="en-GB" dirty="0" err="1"/>
              <a:t>i</a:t>
            </a:r>
            <a:r>
              <a:rPr lang="en-001" dirty="0"/>
              <a:t>z</a:t>
            </a:r>
            <a:r>
              <a:rPr lang="en-GB" dirty="0"/>
              <a:t>e</a:t>
            </a:r>
            <a:r>
              <a:rPr lang="en-001" dirty="0"/>
              <a:t>d </a:t>
            </a:r>
            <a:r>
              <a:rPr lang="en-GB" dirty="0"/>
              <a:t>l</a:t>
            </a:r>
            <a:r>
              <a:rPr lang="en-001" dirty="0" err="1"/>
              <a:t>inear</a:t>
            </a:r>
            <a:r>
              <a:rPr lang="en-001" dirty="0"/>
              <a:t> models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44DD6-5E8E-4441-93A1-DB954CACB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282" y="2171700"/>
            <a:ext cx="3514725" cy="857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45476-C461-4846-9D4C-93A7F7AC7F96}"/>
              </a:ext>
            </a:extLst>
          </p:cNvPr>
          <p:cNvSpPr txBox="1"/>
          <p:nvPr/>
        </p:nvSpPr>
        <p:spPr>
          <a:xfrm>
            <a:off x="3023086" y="2415659"/>
            <a:ext cx="155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Sa</a:t>
            </a:r>
            <a:r>
              <a:rPr lang="en-001" dirty="0"/>
              <a:t>m</a:t>
            </a:r>
            <a:r>
              <a:rPr lang="en-GB" dirty="0"/>
              <a:t>e</a:t>
            </a:r>
            <a:r>
              <a:rPr lang="en-001" dirty="0"/>
              <a:t> </a:t>
            </a:r>
            <a:r>
              <a:rPr lang="en-GB" dirty="0"/>
              <a:t>s</a:t>
            </a:r>
            <a:r>
              <a:rPr lang="en-001" dirty="0"/>
              <a:t>c</a:t>
            </a:r>
            <a:r>
              <a:rPr lang="en-GB" dirty="0"/>
              <a:t>a</a:t>
            </a:r>
            <a:r>
              <a:rPr lang="en-001" dirty="0"/>
              <a:t>l</a:t>
            </a:r>
            <a:r>
              <a:rPr lang="en-GB" dirty="0"/>
              <a:t>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2A56F1-7050-4787-8FD9-0ECE30F955AF}"/>
              </a:ext>
            </a:extLst>
          </p:cNvPr>
          <p:cNvCxnSpPr>
            <a:cxnSpLocks/>
          </p:cNvCxnSpPr>
          <p:nvPr/>
        </p:nvCxnSpPr>
        <p:spPr>
          <a:xfrm flipV="1">
            <a:off x="4662496" y="2415659"/>
            <a:ext cx="1376039" cy="184666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8C22AC-7923-4E7F-95C5-F535FAB61373}"/>
              </a:ext>
            </a:extLst>
          </p:cNvPr>
          <p:cNvCxnSpPr>
            <a:cxnSpLocks/>
          </p:cNvCxnSpPr>
          <p:nvPr/>
        </p:nvCxnSpPr>
        <p:spPr>
          <a:xfrm>
            <a:off x="4662496" y="2600325"/>
            <a:ext cx="1376039" cy="243959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DE84DB5-778D-42BD-AC71-0B532B6C3FB4}"/>
              </a:ext>
            </a:extLst>
          </p:cNvPr>
          <p:cNvSpPr txBox="1"/>
          <p:nvPr/>
        </p:nvSpPr>
        <p:spPr>
          <a:xfrm>
            <a:off x="1646570" y="4230335"/>
            <a:ext cx="4449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001" dirty="0"/>
              <a:t>W</a:t>
            </a:r>
            <a:r>
              <a:rPr lang="en-GB" dirty="0"/>
              <a:t>h</a:t>
            </a:r>
            <a:r>
              <a:rPr lang="en-001" dirty="0"/>
              <a:t>a</a:t>
            </a:r>
            <a:r>
              <a:rPr lang="en-GB" dirty="0"/>
              <a:t>t</a:t>
            </a:r>
            <a:r>
              <a:rPr lang="en-001" dirty="0"/>
              <a:t> if your data (y):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GB" dirty="0"/>
              <a:t>c</a:t>
            </a:r>
            <a:r>
              <a:rPr lang="en-001" dirty="0"/>
              <a:t>a</a:t>
            </a:r>
            <a:r>
              <a:rPr lang="en-GB" dirty="0"/>
              <a:t>n</a:t>
            </a:r>
            <a:r>
              <a:rPr lang="en-001" dirty="0"/>
              <a:t>’</a:t>
            </a:r>
            <a:r>
              <a:rPr lang="en-GB" dirty="0"/>
              <a:t>t</a:t>
            </a:r>
            <a:r>
              <a:rPr lang="en-001" dirty="0"/>
              <a:t> </a:t>
            </a:r>
            <a:r>
              <a:rPr lang="en-GB" dirty="0"/>
              <a:t>p</a:t>
            </a:r>
            <a:r>
              <a:rPr lang="en-001" dirty="0"/>
              <a:t>o</a:t>
            </a:r>
            <a:r>
              <a:rPr lang="en-GB" dirty="0"/>
              <a:t>s</a:t>
            </a:r>
            <a:r>
              <a:rPr lang="en-001" dirty="0"/>
              <a:t>s</a:t>
            </a:r>
            <a:r>
              <a:rPr lang="en-GB" dirty="0" err="1"/>
              <a:t>i</a:t>
            </a:r>
            <a:r>
              <a:rPr lang="en-001" dirty="0"/>
              <a:t>b</a:t>
            </a:r>
            <a:r>
              <a:rPr lang="en-GB" dirty="0"/>
              <a:t>l</a:t>
            </a:r>
            <a:r>
              <a:rPr lang="en-001" dirty="0"/>
              <a:t>y </a:t>
            </a:r>
            <a:r>
              <a:rPr lang="en-GB" dirty="0"/>
              <a:t>h</a:t>
            </a:r>
            <a:r>
              <a:rPr lang="en-001" dirty="0"/>
              <a:t>a</a:t>
            </a:r>
            <a:r>
              <a:rPr lang="en-GB" dirty="0"/>
              <a:t>v</a:t>
            </a:r>
            <a:r>
              <a:rPr lang="en-001" dirty="0"/>
              <a:t>e </a:t>
            </a:r>
            <a:r>
              <a:rPr lang="en-GB" dirty="0"/>
              <a:t>e</a:t>
            </a:r>
            <a:r>
              <a:rPr lang="en-001" dirty="0"/>
              <a:t>v</a:t>
            </a:r>
            <a:r>
              <a:rPr lang="en-GB" dirty="0"/>
              <a:t>e</a:t>
            </a:r>
            <a:r>
              <a:rPr lang="en-001" dirty="0"/>
              <a:t>r</a:t>
            </a:r>
            <a:r>
              <a:rPr lang="en-GB" dirty="0"/>
              <a:t>y</a:t>
            </a:r>
            <a:r>
              <a:rPr lang="en-001" dirty="0"/>
              <a:t> </a:t>
            </a:r>
            <a:r>
              <a:rPr lang="en-GB" dirty="0"/>
              <a:t>v</a:t>
            </a:r>
            <a:r>
              <a:rPr lang="en-001" dirty="0"/>
              <a:t>a</a:t>
            </a:r>
            <a:r>
              <a:rPr lang="en-GB" dirty="0"/>
              <a:t>l</a:t>
            </a:r>
            <a:r>
              <a:rPr lang="en-001" dirty="0"/>
              <a:t>u</a:t>
            </a:r>
            <a:r>
              <a:rPr lang="en-GB" dirty="0"/>
              <a:t>e</a:t>
            </a:r>
            <a:endParaRPr lang="en-00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</a:t>
            </a:r>
            <a:r>
              <a:rPr lang="en-001" dirty="0"/>
              <a:t>s clearly not gaussian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D3C90B-0EDA-44F4-BDE8-0A2769B4C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446" y="3341738"/>
            <a:ext cx="4792354" cy="3239729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C7E369E6-84A5-405F-A8C5-2037CBE5F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446" y="3365705"/>
            <a:ext cx="4720496" cy="321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56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45E0-954D-4C0C-B509-0BA4CD053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6019"/>
          </a:xfrm>
        </p:spPr>
        <p:txBody>
          <a:bodyPr/>
          <a:lstStyle/>
          <a:p>
            <a:r>
              <a:rPr lang="en-001" dirty="0"/>
              <a:t>G</a:t>
            </a:r>
            <a:r>
              <a:rPr lang="en-GB" dirty="0"/>
              <a:t>e</a:t>
            </a:r>
            <a:r>
              <a:rPr lang="en-001" dirty="0"/>
              <a:t>n</a:t>
            </a:r>
            <a:r>
              <a:rPr lang="en-GB" dirty="0"/>
              <a:t>e</a:t>
            </a:r>
            <a:r>
              <a:rPr lang="en-001" dirty="0"/>
              <a:t>r</a:t>
            </a:r>
            <a:r>
              <a:rPr lang="en-GB" dirty="0"/>
              <a:t>a</a:t>
            </a:r>
            <a:r>
              <a:rPr lang="en-001" dirty="0"/>
              <a:t>l</a:t>
            </a:r>
            <a:r>
              <a:rPr lang="en-GB" dirty="0" err="1"/>
              <a:t>i</a:t>
            </a:r>
            <a:r>
              <a:rPr lang="en-001" dirty="0"/>
              <a:t>z</a:t>
            </a:r>
            <a:r>
              <a:rPr lang="en-GB" dirty="0"/>
              <a:t>e</a:t>
            </a:r>
            <a:r>
              <a:rPr lang="en-001" dirty="0"/>
              <a:t>d </a:t>
            </a:r>
            <a:r>
              <a:rPr lang="en-GB" dirty="0"/>
              <a:t>L</a:t>
            </a:r>
            <a:r>
              <a:rPr lang="en-001" dirty="0" err="1"/>
              <a:t>i</a:t>
            </a:r>
            <a:r>
              <a:rPr lang="en-GB" dirty="0"/>
              <a:t>n</a:t>
            </a:r>
            <a:r>
              <a:rPr lang="en-001" dirty="0"/>
              <a:t>e</a:t>
            </a:r>
            <a:r>
              <a:rPr lang="en-GB" dirty="0"/>
              <a:t>a</a:t>
            </a:r>
            <a:r>
              <a:rPr lang="en-001" dirty="0"/>
              <a:t>r </a:t>
            </a:r>
            <a:r>
              <a:rPr lang="en-GB" dirty="0"/>
              <a:t>M</a:t>
            </a:r>
            <a:r>
              <a:rPr lang="en-001" dirty="0"/>
              <a:t>o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l</a:t>
            </a:r>
            <a:r>
              <a:rPr lang="en-001" dirty="0"/>
              <a:t>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E851C-EA4D-4E2E-8272-FFD5723B1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95051"/>
            <a:ext cx="4154129" cy="36465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2EE99D-9B1B-4234-ABA3-6A4F90F66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842" y="2195051"/>
            <a:ext cx="2514600" cy="84772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C0E55C4-CD09-4815-B449-869549104661}"/>
              </a:ext>
            </a:extLst>
          </p:cNvPr>
          <p:cNvGrpSpPr/>
          <p:nvPr/>
        </p:nvGrpSpPr>
        <p:grpSpPr>
          <a:xfrm>
            <a:off x="6588842" y="2195051"/>
            <a:ext cx="2514600" cy="2192590"/>
            <a:chOff x="6588842" y="2195051"/>
            <a:chExt cx="2514600" cy="219259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7A72A25-DF04-4640-B398-44EA66AEB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8842" y="2195051"/>
              <a:ext cx="2514600" cy="13335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F288C4-BD81-4FA0-9381-70A803FE28A1}"/>
                </a:ext>
              </a:extLst>
            </p:cNvPr>
            <p:cNvSpPr txBox="1"/>
            <p:nvPr/>
          </p:nvSpPr>
          <p:spPr>
            <a:xfrm>
              <a:off x="6666273" y="4018309"/>
              <a:ext cx="23597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In</a:t>
              </a:r>
              <a:r>
                <a:rPr lang="en-001" dirty="0"/>
                <a:t>v</a:t>
              </a:r>
              <a:r>
                <a:rPr lang="en-GB" dirty="0"/>
                <a:t>e</a:t>
              </a:r>
              <a:r>
                <a:rPr lang="en-001" dirty="0"/>
                <a:t>r</a:t>
              </a:r>
              <a:r>
                <a:rPr lang="en-GB" dirty="0"/>
                <a:t>s</a:t>
              </a:r>
              <a:r>
                <a:rPr lang="en-001" dirty="0"/>
                <a:t>e </a:t>
              </a:r>
              <a:r>
                <a:rPr lang="en-GB" dirty="0"/>
                <a:t>Li</a:t>
              </a:r>
              <a:r>
                <a:rPr lang="en-001" dirty="0"/>
                <a:t>n</a:t>
              </a:r>
              <a:r>
                <a:rPr lang="en-GB" dirty="0"/>
                <a:t>k</a:t>
              </a:r>
              <a:r>
                <a:rPr lang="en-001" dirty="0"/>
                <a:t> </a:t>
              </a:r>
              <a:r>
                <a:rPr lang="en-GB" dirty="0"/>
                <a:t>f</a:t>
              </a:r>
              <a:r>
                <a:rPr lang="en-001" dirty="0"/>
                <a:t>u</a:t>
              </a:r>
              <a:r>
                <a:rPr lang="en-GB" dirty="0"/>
                <a:t>n</a:t>
              </a:r>
              <a:r>
                <a:rPr lang="en-001" dirty="0"/>
                <a:t>c</a:t>
              </a:r>
              <a:r>
                <a:rPr lang="en-GB" dirty="0"/>
                <a:t>t</a:t>
              </a:r>
              <a:r>
                <a:rPr lang="en-001" dirty="0" err="1"/>
                <a:t>i</a:t>
              </a:r>
              <a:r>
                <a:rPr lang="en-GB" dirty="0"/>
                <a:t>o</a:t>
              </a:r>
              <a:r>
                <a:rPr lang="en-001" dirty="0"/>
                <a:t>n</a:t>
              </a:r>
              <a:endParaRPr lang="en-GB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0F7C725-1758-4196-9AF1-DE142BFFDA80}"/>
                </a:ext>
              </a:extLst>
            </p:cNvPr>
            <p:cNvCxnSpPr>
              <a:cxnSpLocks/>
              <a:stCxn id="8" idx="0"/>
              <a:endCxn id="7" idx="2"/>
            </p:cNvCxnSpPr>
            <p:nvPr/>
          </p:nvCxnSpPr>
          <p:spPr>
            <a:xfrm flipH="1" flipV="1">
              <a:off x="7846142" y="3528551"/>
              <a:ext cx="1" cy="489758"/>
            </a:xfrm>
            <a:prstGeom prst="straightConnector1">
              <a:avLst/>
            </a:prstGeom>
            <a:ln w="3175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B85494E-498E-4EC7-A1AA-A52085D5A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380" y="4504084"/>
            <a:ext cx="5544324" cy="18957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4FCB976-5AE8-446B-BC5E-7C9947E0F39D}"/>
              </a:ext>
            </a:extLst>
          </p:cNvPr>
          <p:cNvSpPr txBox="1"/>
          <p:nvPr/>
        </p:nvSpPr>
        <p:spPr>
          <a:xfrm>
            <a:off x="6172200" y="1467153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c</a:t>
            </a:r>
            <a:r>
              <a:rPr lang="en-GB" dirty="0"/>
              <a:t>o</a:t>
            </a:r>
            <a:r>
              <a:rPr lang="en-001" dirty="0"/>
              <a:t>u</a:t>
            </a:r>
            <a:r>
              <a:rPr lang="en-GB" dirty="0"/>
              <a:t>n</a:t>
            </a:r>
            <a:r>
              <a:rPr lang="en-001" dirty="0"/>
              <a:t>t</a:t>
            </a:r>
            <a:r>
              <a:rPr lang="en-GB" dirty="0"/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87D94E-6E61-4E5C-AB37-7B2C166A549B}"/>
              </a:ext>
            </a:extLst>
          </p:cNvPr>
          <p:cNvSpPr txBox="1"/>
          <p:nvPr/>
        </p:nvSpPr>
        <p:spPr>
          <a:xfrm>
            <a:off x="8583561" y="1461770"/>
            <a:ext cx="56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  <a:r>
              <a:rPr lang="en-001" dirty="0"/>
              <a:t>a</a:t>
            </a:r>
            <a:r>
              <a:rPr lang="en-GB" dirty="0"/>
              <a:t>t</a:t>
            </a:r>
            <a:r>
              <a:rPr lang="en-001" dirty="0"/>
              <a:t>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8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6B7E-08C7-4D23-8E43-37B1C6D2B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Ge</a:t>
            </a:r>
            <a:r>
              <a:rPr lang="en-GB" dirty="0"/>
              <a:t>n</a:t>
            </a:r>
            <a:r>
              <a:rPr lang="en-001" dirty="0"/>
              <a:t>e</a:t>
            </a:r>
            <a:r>
              <a:rPr lang="en-GB" dirty="0"/>
              <a:t>r</a:t>
            </a:r>
            <a:r>
              <a:rPr lang="en-001" dirty="0"/>
              <a:t>a</a:t>
            </a:r>
            <a:r>
              <a:rPr lang="en-GB" dirty="0"/>
              <a:t>l</a:t>
            </a:r>
            <a:r>
              <a:rPr lang="en-001" dirty="0" err="1"/>
              <a:t>i</a:t>
            </a:r>
            <a:r>
              <a:rPr lang="en-GB" dirty="0"/>
              <a:t>z</a:t>
            </a:r>
            <a:r>
              <a:rPr lang="en-001" dirty="0"/>
              <a:t>e</a:t>
            </a:r>
            <a:r>
              <a:rPr lang="en-GB" dirty="0"/>
              <a:t>d</a:t>
            </a:r>
            <a:r>
              <a:rPr lang="en-001" dirty="0"/>
              <a:t> </a:t>
            </a:r>
            <a:r>
              <a:rPr lang="en-GB" dirty="0"/>
              <a:t>L</a:t>
            </a:r>
            <a:r>
              <a:rPr lang="en-001" dirty="0" err="1"/>
              <a:t>i</a:t>
            </a:r>
            <a:r>
              <a:rPr lang="en-GB" dirty="0"/>
              <a:t>n</a:t>
            </a:r>
            <a:r>
              <a:rPr lang="en-001" dirty="0"/>
              <a:t>e</a:t>
            </a:r>
            <a:r>
              <a:rPr lang="en-GB" dirty="0"/>
              <a:t>a</a:t>
            </a:r>
            <a:r>
              <a:rPr lang="en-001" dirty="0"/>
              <a:t>r </a:t>
            </a:r>
            <a:r>
              <a:rPr lang="en-GB" dirty="0"/>
              <a:t>M</a:t>
            </a:r>
            <a:r>
              <a:rPr lang="en-001" dirty="0"/>
              <a:t>o</a:t>
            </a:r>
            <a:r>
              <a:rPr lang="en-GB" dirty="0"/>
              <a:t>d</a:t>
            </a:r>
            <a:r>
              <a:rPr lang="en-001" dirty="0"/>
              <a:t>e</a:t>
            </a:r>
            <a:r>
              <a:rPr lang="en-GB" dirty="0"/>
              <a:t>l</a:t>
            </a:r>
            <a:r>
              <a:rPr lang="en-001" dirty="0"/>
              <a:t>s (</a:t>
            </a:r>
            <a:r>
              <a:rPr lang="en-GB" dirty="0"/>
              <a:t>P</a:t>
            </a:r>
            <a:r>
              <a:rPr lang="en-001" dirty="0"/>
              <a:t>o</a:t>
            </a:r>
            <a:r>
              <a:rPr lang="en-GB" dirty="0" err="1"/>
              <a:t>i</a:t>
            </a:r>
            <a:r>
              <a:rPr lang="en-001" dirty="0"/>
              <a:t>s</a:t>
            </a:r>
            <a:r>
              <a:rPr lang="en-GB" dirty="0"/>
              <a:t>s</a:t>
            </a:r>
            <a:r>
              <a:rPr lang="en-001" dirty="0"/>
              <a:t>o</a:t>
            </a:r>
            <a:r>
              <a:rPr lang="en-GB" dirty="0"/>
              <a:t>n</a:t>
            </a:r>
            <a:r>
              <a:rPr lang="en-001" dirty="0"/>
              <a:t>)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D393B2-0AC8-444D-8732-66AE0E81C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091" y="1652729"/>
            <a:ext cx="7531318" cy="25751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330163-00F3-437D-9D02-69EB9EA18F58}"/>
              </a:ext>
            </a:extLst>
          </p:cNvPr>
          <p:cNvSpPr txBox="1"/>
          <p:nvPr/>
        </p:nvSpPr>
        <p:spPr>
          <a:xfrm>
            <a:off x="2644877" y="4483510"/>
            <a:ext cx="30216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</a:t>
            </a:r>
            <a:r>
              <a:rPr lang="en-001" dirty="0"/>
              <a:t> </a:t>
            </a:r>
            <a:r>
              <a:rPr lang="en-GB" dirty="0"/>
              <a:t>l</a:t>
            </a:r>
            <a:r>
              <a:rPr lang="en-001" dirty="0" err="1"/>
              <a:t>i</a:t>
            </a:r>
            <a:r>
              <a:rPr lang="en-GB" dirty="0"/>
              <a:t>n</a:t>
            </a:r>
            <a:r>
              <a:rPr lang="en-001" dirty="0"/>
              <a:t>k </a:t>
            </a:r>
            <a:r>
              <a:rPr lang="en-GB" dirty="0"/>
              <a:t>s</a:t>
            </a:r>
            <a:r>
              <a:rPr lang="en-001" dirty="0"/>
              <a:t>c</a:t>
            </a:r>
            <a:r>
              <a:rPr lang="en-GB" dirty="0"/>
              <a:t>a</a:t>
            </a:r>
            <a:r>
              <a:rPr lang="en-001" dirty="0"/>
              <a:t>l</a:t>
            </a:r>
            <a:r>
              <a:rPr lang="en-GB" dirty="0"/>
              <a:t>e</a:t>
            </a:r>
            <a:r>
              <a:rPr lang="en-001" dirty="0"/>
              <a:t>!</a:t>
            </a:r>
          </a:p>
          <a:p>
            <a:endParaRPr lang="en-001" dirty="0"/>
          </a:p>
          <a:p>
            <a:r>
              <a:rPr lang="en-001" dirty="0"/>
              <a:t>exp(-0.059)               =  0.942</a:t>
            </a:r>
          </a:p>
          <a:p>
            <a:r>
              <a:rPr lang="en-001" dirty="0"/>
              <a:t>exp(-0.059 + 0.522) =  1.587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810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E04F4-2F78-4971-807E-DF4B2B147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133168"/>
          </a:xfrm>
        </p:spPr>
        <p:txBody>
          <a:bodyPr/>
          <a:lstStyle/>
          <a:p>
            <a:r>
              <a:rPr lang="en-001" dirty="0"/>
              <a:t> </a:t>
            </a:r>
            <a:r>
              <a:rPr lang="en-GB" dirty="0"/>
              <a:t>B</a:t>
            </a:r>
            <a:r>
              <a:rPr lang="en-001" dirty="0" err="1"/>
              <a:t>i</a:t>
            </a:r>
            <a:r>
              <a:rPr lang="en-GB" dirty="0"/>
              <a:t>n</a:t>
            </a:r>
            <a:r>
              <a:rPr lang="en-001" dirty="0"/>
              <a:t>o</a:t>
            </a:r>
            <a:r>
              <a:rPr lang="en-GB" dirty="0"/>
              <a:t>m</a:t>
            </a:r>
            <a:r>
              <a:rPr lang="en-001" dirty="0" err="1"/>
              <a:t>i</a:t>
            </a:r>
            <a:r>
              <a:rPr lang="en-GB" dirty="0"/>
              <a:t>a</a:t>
            </a:r>
            <a:r>
              <a:rPr lang="en-001" dirty="0"/>
              <a:t>l (</a:t>
            </a:r>
            <a:r>
              <a:rPr lang="en-GB" dirty="0"/>
              <a:t>l</a:t>
            </a:r>
            <a:r>
              <a:rPr lang="en-001" dirty="0"/>
              <a:t>o</a:t>
            </a:r>
            <a:r>
              <a:rPr lang="en-GB" dirty="0"/>
              <a:t>g</a:t>
            </a:r>
            <a:r>
              <a:rPr lang="en-001" dirty="0" err="1"/>
              <a:t>i</a:t>
            </a:r>
            <a:r>
              <a:rPr lang="en-GB" dirty="0"/>
              <a:t>s</a:t>
            </a:r>
            <a:r>
              <a:rPr lang="en-001" dirty="0"/>
              <a:t>t</a:t>
            </a:r>
            <a:r>
              <a:rPr lang="en-GB" dirty="0" err="1"/>
              <a:t>i</a:t>
            </a:r>
            <a:r>
              <a:rPr lang="en-001" dirty="0"/>
              <a:t>c) </a:t>
            </a:r>
            <a:r>
              <a:rPr lang="en-GB" dirty="0"/>
              <a:t>r</a:t>
            </a:r>
            <a:r>
              <a:rPr lang="en-001" dirty="0"/>
              <a:t>e</a:t>
            </a:r>
            <a:r>
              <a:rPr lang="en-GB" dirty="0"/>
              <a:t>g</a:t>
            </a:r>
            <a:r>
              <a:rPr lang="en-001" dirty="0"/>
              <a:t>r</a:t>
            </a:r>
            <a:r>
              <a:rPr lang="en-GB" dirty="0"/>
              <a:t>e</a:t>
            </a:r>
            <a:r>
              <a:rPr lang="en-001" dirty="0"/>
              <a:t>s</a:t>
            </a:r>
            <a:r>
              <a:rPr lang="en-GB" dirty="0"/>
              <a:t>s</a:t>
            </a:r>
            <a:r>
              <a:rPr lang="en-001" dirty="0" err="1"/>
              <a:t>i</a:t>
            </a:r>
            <a:r>
              <a:rPr lang="en-GB" dirty="0"/>
              <a:t>o</a:t>
            </a:r>
            <a:r>
              <a:rPr lang="en-001" dirty="0"/>
              <a:t>n</a:t>
            </a:r>
            <a:endParaRPr lang="en-GB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E512EEB-0A42-4258-9B85-169ECCE5E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358" y="2343919"/>
            <a:ext cx="5363442" cy="3653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9B31B7-E8D0-4C31-B697-7B666F16A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288" y="2343919"/>
            <a:ext cx="1082376" cy="371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7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9A38-D77A-454E-BB38-F072DBD8E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F5D967-3C0E-4F43-B084-DA52B07B9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634124"/>
            <a:ext cx="3295650" cy="131445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F787B48-5B0C-44E4-B169-1C263B3C1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358" y="2343919"/>
            <a:ext cx="5363442" cy="3653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BB35B1-481F-4F7A-A11A-96DF584DA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634124"/>
            <a:ext cx="3295650" cy="1438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0AA39E-694D-48BD-813F-F437ECB49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1432" y="2624598"/>
            <a:ext cx="32956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1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9977-C455-4D36-9DAE-295844008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dirty="0"/>
              <a:t>L</a:t>
            </a:r>
            <a:r>
              <a:rPr lang="en-GB" dirty="0"/>
              <a:t>o</a:t>
            </a:r>
            <a:r>
              <a:rPr lang="en-001" dirty="0"/>
              <a:t>g-od</a:t>
            </a:r>
            <a:r>
              <a:rPr lang="en-GB" dirty="0"/>
              <a:t>d</a:t>
            </a:r>
            <a:r>
              <a:rPr lang="en-001" dirty="0"/>
              <a:t>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AA6A66-F25C-4106-83D5-85BE5F9BD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616" y="2659104"/>
            <a:ext cx="7998768" cy="360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81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546A-94AD-4A50-9D02-21CDDD14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</a:t>
            </a:r>
            <a:r>
              <a:rPr lang="en-001" dirty="0"/>
              <a:t>g-odds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2FBA75-067A-42BC-B67F-2D3723ABD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382" y="1690971"/>
            <a:ext cx="5077534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156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9F58-6551-46B9-AEC6-4AD515586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6B550-4989-4DA4-B72B-932813A8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90640"/>
            <a:ext cx="5325218" cy="22863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28FA30-E7CA-4D04-8F20-3A0FFF4CC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286" y="2590640"/>
            <a:ext cx="5289714" cy="33185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C8410E-4780-4277-A8BD-4D648E7CD588}"/>
              </a:ext>
            </a:extLst>
          </p:cNvPr>
          <p:cNvSpPr txBox="1"/>
          <p:nvPr/>
        </p:nvSpPr>
        <p:spPr>
          <a:xfrm>
            <a:off x="1936956" y="5243050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i</a:t>
            </a:r>
            <a:r>
              <a:rPr lang="en-GB" dirty="0"/>
              <a:t>n</a:t>
            </a:r>
            <a:r>
              <a:rPr lang="en-001" dirty="0"/>
              <a:t> </a:t>
            </a:r>
            <a:r>
              <a:rPr lang="en-GB" dirty="0"/>
              <a:t>l</a:t>
            </a:r>
            <a:r>
              <a:rPr lang="en-001" dirty="0"/>
              <a:t>ink scale!</a:t>
            </a:r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762F44-E902-42BC-AAEA-367D4233403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635224" y="4473677"/>
            <a:ext cx="0" cy="769373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17566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15596</TotalTime>
  <Words>970</Words>
  <Application>Microsoft Office PowerPoint</Application>
  <PresentationFormat>Widescreen</PresentationFormat>
  <Paragraphs>92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Franklin Gothic Book</vt:lpstr>
      <vt:lpstr>Crop</vt:lpstr>
      <vt:lpstr>Linear Models</vt:lpstr>
      <vt:lpstr>There is a better way</vt:lpstr>
      <vt:lpstr>Linear Models</vt:lpstr>
      <vt:lpstr>Anatomy of a Linear Model</vt:lpstr>
      <vt:lpstr>Linear Regression</vt:lpstr>
      <vt:lpstr>Linear Regression  height vs age</vt:lpstr>
      <vt:lpstr>Categorical variables</vt:lpstr>
      <vt:lpstr>Categorical variables</vt:lpstr>
      <vt:lpstr>Categorical Variables</vt:lpstr>
      <vt:lpstr>Interactions</vt:lpstr>
      <vt:lpstr>Linear Models are not just about lines!</vt:lpstr>
      <vt:lpstr>Multi-level categorical variables</vt:lpstr>
      <vt:lpstr>Multi-level categorical variables</vt:lpstr>
      <vt:lpstr>Multi-level categorical variables</vt:lpstr>
      <vt:lpstr>PowerPoint Presentation</vt:lpstr>
      <vt:lpstr>Common Statistical tests as Linear Models</vt:lpstr>
      <vt:lpstr>Linear Models</vt:lpstr>
      <vt:lpstr>t-test (one sample)</vt:lpstr>
      <vt:lpstr>t-test (2 independent samples)</vt:lpstr>
      <vt:lpstr>One-way ANOVA</vt:lpstr>
      <vt:lpstr>One-way ANOVA</vt:lpstr>
      <vt:lpstr>Factorial (two-way) ANOVA</vt:lpstr>
      <vt:lpstr>Generalized Linear Models</vt:lpstr>
      <vt:lpstr>Generalized linear models</vt:lpstr>
      <vt:lpstr>Generalized Linear Models</vt:lpstr>
      <vt:lpstr>Generalized Linear Models (Poisson)</vt:lpstr>
      <vt:lpstr> Binomial (logistic) regression</vt:lpstr>
      <vt:lpstr>PowerPoint Presentation</vt:lpstr>
      <vt:lpstr>Log-odds</vt:lpstr>
      <vt:lpstr>Log-odds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Tiago Paixão</dc:creator>
  <cp:lastModifiedBy>Tiago Paixão</cp:lastModifiedBy>
  <cp:revision>58</cp:revision>
  <dcterms:created xsi:type="dcterms:W3CDTF">2021-09-13T08:06:14Z</dcterms:created>
  <dcterms:modified xsi:type="dcterms:W3CDTF">2026-01-21T00:04:44Z</dcterms:modified>
</cp:coreProperties>
</file>